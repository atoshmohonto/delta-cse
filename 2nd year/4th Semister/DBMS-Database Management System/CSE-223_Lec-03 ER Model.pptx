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7" r:id="rId2"/>
    <p:sldId id="258" r:id="rId3"/>
    <p:sldId id="259" r:id="rId4"/>
    <p:sldId id="260" r:id="rId5"/>
    <p:sldId id="339" r:id="rId6"/>
    <p:sldId id="340" r:id="rId7"/>
    <p:sldId id="261" r:id="rId8"/>
    <p:sldId id="262" r:id="rId9"/>
    <p:sldId id="263" r:id="rId10"/>
    <p:sldId id="353" r:id="rId11"/>
    <p:sldId id="354" r:id="rId12"/>
    <p:sldId id="267" r:id="rId13"/>
    <p:sldId id="355" r:id="rId14"/>
    <p:sldId id="356" r:id="rId15"/>
    <p:sldId id="268" r:id="rId16"/>
    <p:sldId id="269" r:id="rId17"/>
    <p:sldId id="270" r:id="rId18"/>
    <p:sldId id="271" r:id="rId19"/>
    <p:sldId id="357" r:id="rId20"/>
    <p:sldId id="341" r:id="rId21"/>
    <p:sldId id="342" r:id="rId22"/>
    <p:sldId id="343" r:id="rId23"/>
    <p:sldId id="350" r:id="rId24"/>
    <p:sldId id="352" r:id="rId25"/>
    <p:sldId id="344" r:id="rId26"/>
    <p:sldId id="348" r:id="rId27"/>
    <p:sldId id="349" r:id="rId28"/>
    <p:sldId id="273" r:id="rId29"/>
    <p:sldId id="274" r:id="rId30"/>
    <p:sldId id="275" r:id="rId31"/>
    <p:sldId id="276" r:id="rId32"/>
    <p:sldId id="277" r:id="rId33"/>
    <p:sldId id="278" r:id="rId34"/>
    <p:sldId id="279" r:id="rId35"/>
    <p:sldId id="280" r:id="rId36"/>
    <p:sldId id="281" r:id="rId37"/>
    <p:sldId id="282" r:id="rId38"/>
    <p:sldId id="290" r:id="rId39"/>
    <p:sldId id="291" r:id="rId40"/>
    <p:sldId id="292" r:id="rId41"/>
    <p:sldId id="293" r:id="rId42"/>
    <p:sldId id="294" r:id="rId43"/>
    <p:sldId id="295" r:id="rId44"/>
    <p:sldId id="296" r:id="rId45"/>
    <p:sldId id="297" r:id="rId46"/>
    <p:sldId id="298" r:id="rId47"/>
    <p:sldId id="299" r:id="rId48"/>
    <p:sldId id="351" r:id="rId49"/>
    <p:sldId id="300" r:id="rId50"/>
    <p:sldId id="301" r:id="rId51"/>
    <p:sldId id="302" r:id="rId52"/>
    <p:sldId id="303" r:id="rId53"/>
    <p:sldId id="304" r:id="rId54"/>
    <p:sldId id="347" r:id="rId55"/>
    <p:sldId id="306" r:id="rId56"/>
    <p:sldId id="318" r:id="rId57"/>
    <p:sldId id="319" r:id="rId58"/>
    <p:sldId id="321" r:id="rId59"/>
    <p:sldId id="345" r:id="rId60"/>
    <p:sldId id="346"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116"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01C111-4CF9-40D5-A0BA-751ED7AB4FAA}" type="datetimeFigureOut">
              <a:rPr lang="en-US" smtClean="0"/>
              <a:pPr/>
              <a:t>1/24/2023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93EFC7-C682-4311-B283-97EE67778F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1F8208E5-1F1E-4BBC-B9A3-9F79F31D8873}" type="slidenum">
              <a:rPr lang="en-US"/>
              <a:pPr/>
              <a:t>1</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93EFC7-C682-4311-B283-97EE67778F42}" type="slidenum">
              <a:rPr lang="en-US" smtClean="0"/>
              <a:pPr/>
              <a:t>25</a:t>
            </a:fld>
            <a:endParaRPr lang="en-US"/>
          </a:p>
        </p:txBody>
      </p:sp>
    </p:spTree>
    <p:extLst>
      <p:ext uri="{BB962C8B-B14F-4D97-AF65-F5344CB8AC3E}">
        <p14:creationId xmlns:p14="http://schemas.microsoft.com/office/powerpoint/2010/main" val="289044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javatpoint.com/dbms-key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www.javatpoint.com/dbms-er-model-concept"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ctrTitle"/>
          </p:nvPr>
        </p:nvSpPr>
        <p:spPr/>
        <p:txBody>
          <a:bodyPr>
            <a:normAutofit/>
          </a:bodyPr>
          <a:lstStyle/>
          <a:p>
            <a:pPr>
              <a:defRPr/>
            </a:pPr>
            <a:r>
              <a:rPr lang="en-US" sz="3600" dirty="0">
                <a:latin typeface="Times New Roman" pitchFamily="18" charset="0"/>
                <a:cs typeface="Times New Roman" pitchFamily="18" charset="0"/>
              </a:rPr>
              <a:t>Chapter 2:  Entity-Relationship Model</a:t>
            </a:r>
          </a:p>
        </p:txBody>
      </p:sp>
      <p:sp>
        <p:nvSpPr>
          <p:cNvPr id="3" name="Rectangle 2"/>
          <p:cNvSpPr txBox="1">
            <a:spLocks noChangeArrowheads="1"/>
          </p:cNvSpPr>
          <p:nvPr/>
        </p:nvSpPr>
        <p:spPr bwMode="auto">
          <a:xfrm>
            <a:off x="762000" y="914400"/>
            <a:ext cx="7772400" cy="1143000"/>
          </a:xfrm>
          <a:prstGeom prst="rect">
            <a:avLst/>
          </a:prstGeom>
          <a:noFill/>
          <a:ln w="9525">
            <a:noFill/>
            <a:miter lim="800000"/>
            <a:headEnd/>
            <a:tailEnd/>
          </a:ln>
        </p:spPr>
        <p:txBody>
          <a:bodyPr anchor="b"/>
          <a:lstStyle/>
          <a:p>
            <a:pPr algn="ctr">
              <a:defRPr/>
            </a:pPr>
            <a:r>
              <a:rPr kumimoji="1" lang="en-US" sz="3200" b="1" kern="0" dirty="0">
                <a:latin typeface="Times New Roman" pitchFamily="18" charset="0"/>
                <a:ea typeface="+mj-ea"/>
                <a:cs typeface="Times New Roman" pitchFamily="18" charset="0"/>
              </a:rPr>
              <a:t>Lecture 03 </a:t>
            </a:r>
            <a:br>
              <a:rPr kumimoji="1" lang="en-US" sz="3200" b="1" kern="0" dirty="0">
                <a:latin typeface="Times New Roman" pitchFamily="18" charset="0"/>
                <a:ea typeface="+mj-ea"/>
                <a:cs typeface="Times New Roman" pitchFamily="18" charset="0"/>
              </a:rPr>
            </a:br>
            <a:r>
              <a:rPr kumimoji="1" lang="en-US" sz="3200" b="1" kern="0" dirty="0">
                <a:latin typeface="Times New Roman" pitchFamily="18" charset="0"/>
                <a:ea typeface="+mj-ea"/>
                <a:cs typeface="Times New Roman" pitchFamily="18" charset="0"/>
              </a:rPr>
              <a:t>CSE-223: Database Management System</a:t>
            </a:r>
          </a:p>
        </p:txBody>
      </p:sp>
      <p:sp>
        <p:nvSpPr>
          <p:cNvPr id="4" name="Rectangle 2"/>
          <p:cNvSpPr txBox="1">
            <a:spLocks noChangeArrowheads="1"/>
          </p:cNvSpPr>
          <p:nvPr/>
        </p:nvSpPr>
        <p:spPr bwMode="auto">
          <a:xfrm>
            <a:off x="609600" y="4572000"/>
            <a:ext cx="7772400" cy="1828800"/>
          </a:xfrm>
          <a:prstGeom prst="rect">
            <a:avLst/>
          </a:prstGeom>
          <a:noFill/>
          <a:ln w="9525">
            <a:noFill/>
            <a:miter lim="800000"/>
            <a:headEnd/>
            <a:tailEnd/>
          </a:ln>
        </p:spPr>
        <p:txBody>
          <a:bodyPr anchor="ctr"/>
          <a:lstStyle/>
          <a:p>
            <a:pPr algn="r">
              <a:defRPr/>
            </a:pPr>
            <a:r>
              <a:rPr lang="en-US" sz="3200" kern="0" dirty="0" err="1">
                <a:latin typeface="Times New Roman" pitchFamily="18" charset="0"/>
                <a:ea typeface="+mj-ea"/>
                <a:cs typeface="Times New Roman" pitchFamily="18" charset="0"/>
              </a:rPr>
              <a:t>Shamima</a:t>
            </a:r>
            <a:r>
              <a:rPr lang="en-US" sz="3200" kern="0" dirty="0">
                <a:latin typeface="Times New Roman" pitchFamily="18" charset="0"/>
                <a:ea typeface="+mj-ea"/>
                <a:cs typeface="Times New Roman" pitchFamily="18" charset="0"/>
              </a:rPr>
              <a:t> Nasrin Daisy</a:t>
            </a:r>
          </a:p>
          <a:p>
            <a:pPr algn="r">
              <a:defRPr/>
            </a:pPr>
            <a:r>
              <a:rPr lang="en-US" sz="2000" kern="0" dirty="0">
                <a:latin typeface="Times New Roman" pitchFamily="18" charset="0"/>
                <a:ea typeface="+mj-ea"/>
                <a:cs typeface="Times New Roman" pitchFamily="18" charset="0"/>
              </a:rPr>
              <a:t>Asst. Prof</a:t>
            </a:r>
          </a:p>
          <a:p>
            <a:pPr algn="r">
              <a:defRPr/>
            </a:pPr>
            <a:r>
              <a:rPr lang="en-US" sz="2000" kern="0" dirty="0">
                <a:latin typeface="Times New Roman" pitchFamily="18" charset="0"/>
                <a:ea typeface="+mj-ea"/>
                <a:cs typeface="Times New Roman" pitchFamily="18" charset="0"/>
              </a:rPr>
              <a:t> Dept Of CSE</a:t>
            </a:r>
          </a:p>
          <a:p>
            <a:pPr algn="r">
              <a:defRPr/>
            </a:pPr>
            <a:r>
              <a:rPr lang="en-US" sz="2000" kern="0" dirty="0">
                <a:latin typeface="Times New Roman" pitchFamily="18" charset="0"/>
                <a:ea typeface="+mj-ea"/>
                <a:cs typeface="Times New Roman" pitchFamily="18" charset="0"/>
              </a:rPr>
              <a:t>SBPGC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852488" y="66675"/>
            <a:ext cx="8077200" cy="609600"/>
          </a:xfrm>
        </p:spPr>
        <p:txBody>
          <a:bodyPr>
            <a:normAutofit/>
          </a:bodyPr>
          <a:lstStyle/>
          <a:p>
            <a:pPr>
              <a:defRPr/>
            </a:pPr>
            <a:r>
              <a:rPr lang="en-US" sz="3200" dirty="0">
                <a:latin typeface="Times New Roman" pitchFamily="18" charset="0"/>
                <a:cs typeface="Times New Roman" pitchFamily="18" charset="0"/>
              </a:rPr>
              <a:t>Chapter 6:  Entity-Relationship Model</a:t>
            </a:r>
          </a:p>
        </p:txBody>
      </p:sp>
      <p:sp>
        <p:nvSpPr>
          <p:cNvPr id="15363" name="Rectangle 3"/>
          <p:cNvSpPr>
            <a:spLocks noGrp="1" noChangeArrowheads="1"/>
          </p:cNvSpPr>
          <p:nvPr>
            <p:ph type="body" idx="1"/>
          </p:nvPr>
        </p:nvSpPr>
        <p:spPr>
          <a:xfrm>
            <a:off x="855663" y="1222375"/>
            <a:ext cx="7848600" cy="4876800"/>
          </a:xfrm>
        </p:spPr>
        <p:txBody>
          <a:bodyPr/>
          <a:lstStyle/>
          <a:p>
            <a:r>
              <a:rPr lang="en-US" sz="1800" dirty="0">
                <a:latin typeface="Times New Roman" pitchFamily="18" charset="0"/>
                <a:cs typeface="Times New Roman" pitchFamily="18" charset="0"/>
              </a:rPr>
              <a:t>Design Process</a:t>
            </a:r>
          </a:p>
          <a:p>
            <a:r>
              <a:rPr lang="en-US" sz="1800" dirty="0">
                <a:latin typeface="Times New Roman" pitchFamily="18" charset="0"/>
                <a:cs typeface="Times New Roman" pitchFamily="18" charset="0"/>
              </a:rPr>
              <a:t>Modeling</a:t>
            </a:r>
          </a:p>
          <a:p>
            <a:r>
              <a:rPr lang="en-US" sz="1800" dirty="0">
                <a:latin typeface="Times New Roman" pitchFamily="18" charset="0"/>
                <a:cs typeface="Times New Roman" pitchFamily="18" charset="0"/>
              </a:rPr>
              <a:t>Constraints</a:t>
            </a:r>
          </a:p>
          <a:p>
            <a:r>
              <a:rPr lang="en-US" sz="1800" dirty="0">
                <a:latin typeface="Times New Roman" pitchFamily="18" charset="0"/>
                <a:cs typeface="Times New Roman" pitchFamily="18" charset="0"/>
              </a:rPr>
              <a:t>E-R Diagram </a:t>
            </a:r>
          </a:p>
          <a:p>
            <a:r>
              <a:rPr lang="en-US" sz="1800" dirty="0">
                <a:latin typeface="Times New Roman" pitchFamily="18" charset="0"/>
                <a:cs typeface="Times New Roman" pitchFamily="18" charset="0"/>
              </a:rPr>
              <a:t>Design Issues </a:t>
            </a:r>
          </a:p>
          <a:p>
            <a:r>
              <a:rPr lang="en-US" sz="1800" dirty="0">
                <a:latin typeface="Times New Roman" pitchFamily="18" charset="0"/>
                <a:cs typeface="Times New Roman" pitchFamily="18" charset="0"/>
              </a:rPr>
              <a:t>Weak Entity Sets </a:t>
            </a:r>
          </a:p>
          <a:p>
            <a:r>
              <a:rPr lang="en-US" sz="1800" dirty="0">
                <a:latin typeface="Times New Roman" pitchFamily="18" charset="0"/>
                <a:cs typeface="Times New Roman" pitchFamily="18" charset="0"/>
              </a:rPr>
              <a:t>Extended E-R Features</a:t>
            </a:r>
          </a:p>
          <a:p>
            <a:r>
              <a:rPr lang="en-US" sz="1800" dirty="0">
                <a:latin typeface="Times New Roman" pitchFamily="18" charset="0"/>
                <a:cs typeface="Times New Roman" pitchFamily="18" charset="0"/>
              </a:rPr>
              <a:t>Design of the Bank Database</a:t>
            </a:r>
          </a:p>
          <a:p>
            <a:r>
              <a:rPr lang="en-US" sz="1800" dirty="0">
                <a:latin typeface="Times New Roman" pitchFamily="18" charset="0"/>
                <a:cs typeface="Times New Roman" pitchFamily="18" charset="0"/>
              </a:rPr>
              <a:t>Reduction to Relation Schemas</a:t>
            </a:r>
          </a:p>
          <a:p>
            <a:r>
              <a:rPr lang="en-US" sz="1800" dirty="0">
                <a:latin typeface="Times New Roman" pitchFamily="18" charset="0"/>
                <a:cs typeface="Times New Roman" pitchFamily="18" charset="0"/>
              </a:rPr>
              <a:t>Database Design</a:t>
            </a:r>
          </a:p>
          <a:p>
            <a:r>
              <a:rPr lang="en-US" sz="1800" dirty="0">
                <a:latin typeface="Times New Roman" pitchFamily="18" charset="0"/>
                <a:cs typeface="Times New Roman" pitchFamily="18" charset="0"/>
              </a:rPr>
              <a:t>UML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Modeling</a:t>
            </a:r>
          </a:p>
        </p:txBody>
      </p:sp>
      <p:sp>
        <p:nvSpPr>
          <p:cNvPr id="16387" name="Rectangle 3"/>
          <p:cNvSpPr>
            <a:spLocks noGrp="1" noChangeArrowheads="1"/>
          </p:cNvSpPr>
          <p:nvPr>
            <p:ph type="body" idx="1"/>
          </p:nvPr>
        </p:nvSpPr>
        <p:spPr>
          <a:xfrm>
            <a:off x="855663" y="1371599"/>
            <a:ext cx="7848600" cy="4727575"/>
          </a:xfrm>
        </p:spPr>
        <p:txBody>
          <a:bodyPr>
            <a:normAutofit/>
          </a:bodyPr>
          <a:lstStyle/>
          <a:p>
            <a:pPr algn="just"/>
            <a:r>
              <a:rPr lang="en-US" sz="1800" dirty="0">
                <a:latin typeface="Times New Roman" pitchFamily="18" charset="0"/>
                <a:cs typeface="Times New Roman" pitchFamily="18" charset="0"/>
              </a:rPr>
              <a:t>A database can be modeled as:</a:t>
            </a:r>
          </a:p>
          <a:p>
            <a:pPr lvl="1" algn="just"/>
            <a:r>
              <a:rPr lang="en-US" sz="1800" dirty="0">
                <a:latin typeface="Times New Roman" pitchFamily="18" charset="0"/>
                <a:cs typeface="Times New Roman" pitchFamily="18" charset="0"/>
              </a:rPr>
              <a:t>a collection of entities,</a:t>
            </a:r>
          </a:p>
          <a:p>
            <a:pPr lvl="1" algn="just"/>
            <a:r>
              <a:rPr lang="en-US" sz="1800" dirty="0">
                <a:latin typeface="Times New Roman" pitchFamily="18" charset="0"/>
                <a:cs typeface="Times New Roman" pitchFamily="18" charset="0"/>
              </a:rPr>
              <a:t>relationship among entities.</a:t>
            </a:r>
          </a:p>
          <a:p>
            <a:pPr algn="just"/>
            <a:r>
              <a:rPr lang="en-US" sz="1800" dirty="0">
                <a:latin typeface="Times New Roman" pitchFamily="18" charset="0"/>
                <a:cs typeface="Times New Roman" pitchFamily="18" charset="0"/>
              </a:rPr>
              <a:t>An </a:t>
            </a:r>
            <a:r>
              <a:rPr lang="en-US" sz="1800" b="1" dirty="0">
                <a:solidFill>
                  <a:schemeClr val="tx2"/>
                </a:solidFill>
                <a:latin typeface="Times New Roman" pitchFamily="18" charset="0"/>
                <a:cs typeface="Times New Roman" pitchFamily="18" charset="0"/>
              </a:rPr>
              <a:t>entity</a:t>
            </a:r>
            <a:r>
              <a:rPr lang="en-US" sz="1800" b="1" dirty="0">
                <a:latin typeface="Times New Roman" pitchFamily="18" charset="0"/>
                <a:cs typeface="Times New Roman" pitchFamily="18" charset="0"/>
              </a:rPr>
              <a:t> </a:t>
            </a:r>
            <a:r>
              <a:rPr lang="en-US" sz="1800" dirty="0">
                <a:latin typeface="Times New Roman" pitchFamily="18" charset="0"/>
                <a:cs typeface="Times New Roman" pitchFamily="18" charset="0"/>
              </a:rPr>
              <a:t>is an object that exists and is distinguishable from other objects.</a:t>
            </a:r>
          </a:p>
          <a:p>
            <a:pPr lvl="1" algn="just"/>
            <a:r>
              <a:rPr lang="en-US" sz="2000" dirty="0">
                <a:latin typeface="Times New Roman" pitchFamily="18" charset="0"/>
                <a:cs typeface="Times New Roman" pitchFamily="18" charset="0"/>
              </a:rPr>
              <a:t>Example:  specific person, company, event, plant</a:t>
            </a:r>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Entities have </a:t>
            </a:r>
            <a:r>
              <a:rPr lang="en-US" sz="1800" i="1" dirty="0">
                <a:latin typeface="Times New Roman" pitchFamily="18" charset="0"/>
                <a:cs typeface="Times New Roman" pitchFamily="18" charset="0"/>
              </a:rPr>
              <a:t>attributes</a:t>
            </a:r>
          </a:p>
          <a:p>
            <a:pPr lvl="1" algn="just"/>
            <a:r>
              <a:rPr lang="en-US" sz="1800" dirty="0">
                <a:latin typeface="Times New Roman" pitchFamily="18" charset="0"/>
                <a:cs typeface="Times New Roman" pitchFamily="18" charset="0"/>
              </a:rPr>
              <a:t>Example: people have </a:t>
            </a:r>
            <a:r>
              <a:rPr lang="en-US" sz="1800" i="1" dirty="0">
                <a:latin typeface="Times New Roman" pitchFamily="18" charset="0"/>
                <a:cs typeface="Times New Roman" pitchFamily="18" charset="0"/>
              </a:rPr>
              <a:t>names </a:t>
            </a:r>
            <a:r>
              <a:rPr lang="en-US" sz="1800" dirty="0">
                <a:latin typeface="Times New Roman" pitchFamily="18" charset="0"/>
                <a:cs typeface="Times New Roman" pitchFamily="18" charset="0"/>
              </a:rPr>
              <a:t>and </a:t>
            </a:r>
            <a:r>
              <a:rPr lang="en-US" sz="1800" i="1" dirty="0">
                <a:latin typeface="Times New Roman" pitchFamily="18" charset="0"/>
                <a:cs typeface="Times New Roman" pitchFamily="18" charset="0"/>
              </a:rPr>
              <a:t>addresses	</a:t>
            </a:r>
          </a:p>
          <a:p>
            <a:pPr algn="just"/>
            <a:r>
              <a:rPr lang="en-US" sz="1800" dirty="0">
                <a:latin typeface="Times New Roman" pitchFamily="18" charset="0"/>
                <a:cs typeface="Times New Roman" pitchFamily="18" charset="0"/>
              </a:rPr>
              <a:t>An </a:t>
            </a:r>
            <a:r>
              <a:rPr lang="en-US" sz="1800" b="1" dirty="0">
                <a:solidFill>
                  <a:schemeClr val="tx2"/>
                </a:solidFill>
                <a:latin typeface="Times New Roman" pitchFamily="18" charset="0"/>
                <a:cs typeface="Times New Roman" pitchFamily="18" charset="0"/>
              </a:rPr>
              <a:t>entity set</a:t>
            </a:r>
            <a:r>
              <a:rPr lang="en-US" sz="1800" dirty="0">
                <a:latin typeface="Times New Roman" pitchFamily="18" charset="0"/>
                <a:cs typeface="Times New Roman" pitchFamily="18" charset="0"/>
              </a:rPr>
              <a:t> is a set of entities of the same type that share the same properties.</a:t>
            </a:r>
          </a:p>
          <a:p>
            <a:pPr lvl="1" algn="just"/>
            <a:r>
              <a:rPr lang="en-US" sz="1800" dirty="0">
                <a:latin typeface="Times New Roman" pitchFamily="18" charset="0"/>
                <a:cs typeface="Times New Roman" pitchFamily="18" charset="0"/>
              </a:rPr>
              <a:t>Example: set of all persons, companies, trees, holidays</a:t>
            </a:r>
          </a:p>
          <a:p>
            <a:pPr algn="l" fontAlgn="base"/>
            <a:r>
              <a:rPr lang="en-US" sz="1200" b="1" i="0" dirty="0">
                <a:solidFill>
                  <a:srgbClr val="FFFFFF"/>
                </a:solidFill>
                <a:effectLst/>
                <a:latin typeface="urw-din"/>
              </a:rPr>
              <a:t>Entity, Entity Type, Entity Set –</a:t>
            </a:r>
            <a:r>
              <a:rPr lang="en-US" sz="1200" b="0" i="0" dirty="0">
                <a:solidFill>
                  <a:srgbClr val="FFFFFF"/>
                </a:solidFill>
                <a:effectLst/>
                <a:latin typeface="urw-din"/>
              </a:rPr>
              <a:t> </a:t>
            </a:r>
          </a:p>
          <a:p>
            <a:pPr algn="l" fontAlgn="base"/>
            <a:r>
              <a:rPr lang="en-US" sz="1800" b="0" i="0" dirty="0">
                <a:effectLst/>
                <a:latin typeface="urw-din"/>
              </a:rPr>
              <a:t>An Entity is an object of Entity Type and a set of all entities is called as an entity set. e.g.; E1 is an entity having Entity Type Student and set of all students is called Entity Set. In ER diagram.</a:t>
            </a:r>
            <a:endParaRPr lang="en-US" sz="18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26"/>
          <p:cNvSpPr>
            <a:spLocks noGrp="1" noChangeArrowheads="1"/>
          </p:cNvSpPr>
          <p:nvPr>
            <p:ph type="title"/>
          </p:nvPr>
        </p:nvSpPr>
        <p:spPr>
          <a:xfrm>
            <a:off x="457200" y="274638"/>
            <a:ext cx="8229600" cy="868362"/>
          </a:xfrm>
        </p:spPr>
        <p:txBody>
          <a:bodyPr>
            <a:normAutofit/>
          </a:bodyPr>
          <a:lstStyle/>
          <a:p>
            <a:pPr>
              <a:defRPr/>
            </a:pPr>
            <a:r>
              <a:rPr lang="en-US" sz="3200" dirty="0">
                <a:latin typeface="Times New Roman" pitchFamily="18" charset="0"/>
                <a:cs typeface="Times New Roman" pitchFamily="18" charset="0"/>
              </a:rPr>
              <a:t>Entity Sets </a:t>
            </a:r>
            <a:r>
              <a:rPr lang="en-US" sz="3200" i="1" dirty="0">
                <a:latin typeface="Times New Roman" pitchFamily="18" charset="0"/>
                <a:cs typeface="Times New Roman" pitchFamily="18" charset="0"/>
              </a:rPr>
              <a:t>customer</a:t>
            </a:r>
            <a:r>
              <a:rPr lang="en-US" sz="3200" dirty="0">
                <a:latin typeface="Times New Roman" pitchFamily="18" charset="0"/>
                <a:cs typeface="Times New Roman" pitchFamily="18" charset="0"/>
              </a:rPr>
              <a:t> and </a:t>
            </a:r>
            <a:r>
              <a:rPr lang="en-US" sz="3200" i="1" dirty="0">
                <a:latin typeface="Times New Roman" pitchFamily="18" charset="0"/>
                <a:cs typeface="Times New Roman" pitchFamily="18" charset="0"/>
              </a:rPr>
              <a:t>loan</a:t>
            </a:r>
            <a:endParaRPr lang="en-US" sz="3200" dirty="0">
              <a:latin typeface="Times New Roman" pitchFamily="18" charset="0"/>
              <a:cs typeface="Times New Roman" pitchFamily="18" charset="0"/>
            </a:endParaRPr>
          </a:p>
        </p:txBody>
      </p:sp>
      <p:sp>
        <p:nvSpPr>
          <p:cNvPr id="17411" name="Text Box 1028"/>
          <p:cNvSpPr txBox="1">
            <a:spLocks noChangeArrowheads="1"/>
          </p:cNvSpPr>
          <p:nvPr/>
        </p:nvSpPr>
        <p:spPr bwMode="auto">
          <a:xfrm>
            <a:off x="1066800" y="1066800"/>
            <a:ext cx="7391400" cy="646331"/>
          </a:xfrm>
          <a:prstGeom prst="rect">
            <a:avLst/>
          </a:prstGeom>
          <a:noFill/>
          <a:ln w="9525">
            <a:noFill/>
            <a:miter lim="800000"/>
            <a:headEnd/>
            <a:tailEnd/>
          </a:ln>
        </p:spPr>
        <p:txBody>
          <a:bodyPr wrap="square">
            <a:spAutoFit/>
          </a:bodyPr>
          <a:lstStyle/>
          <a:p>
            <a:r>
              <a:rPr lang="en-US" sz="1800" dirty="0">
                <a:latin typeface="Times New Roman" pitchFamily="18" charset="0"/>
                <a:cs typeface="Times New Roman" pitchFamily="18" charset="0"/>
              </a:rPr>
              <a:t>customer_id   customer</a:t>
            </a:r>
            <a:r>
              <a:rPr lang="en-US" dirty="0">
                <a:latin typeface="Times New Roman" pitchFamily="18" charset="0"/>
                <a:cs typeface="Times New Roman" pitchFamily="18" charset="0"/>
              </a:rPr>
              <a:t>  </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customer</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customer</a:t>
            </a:r>
            <a:r>
              <a:rPr lang="en-US" dirty="0">
                <a:latin typeface="Times New Roman" pitchFamily="18" charset="0"/>
                <a:cs typeface="Times New Roman" pitchFamily="18" charset="0"/>
              </a:rPr>
              <a:t>          </a:t>
            </a:r>
            <a:r>
              <a:rPr lang="en-US" sz="1800" dirty="0">
                <a:latin typeface="Times New Roman" pitchFamily="18" charset="0"/>
                <a:cs typeface="Times New Roman" pitchFamily="18" charset="0"/>
              </a:rPr>
              <a:t>                loan      amount</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name           street         city                            number</a:t>
            </a:r>
          </a:p>
        </p:txBody>
      </p:sp>
      <p:pic>
        <p:nvPicPr>
          <p:cNvPr id="17412" name="Picture 1029"/>
          <p:cNvPicPr>
            <a:picLocks noChangeAspect="1" noChangeArrowheads="1"/>
          </p:cNvPicPr>
          <p:nvPr/>
        </p:nvPicPr>
        <p:blipFill>
          <a:blip r:embed="rId2"/>
          <a:srcRect l="2493" t="7654" r="1529" b="8435"/>
          <a:stretch>
            <a:fillRect/>
          </a:stretch>
        </p:blipFill>
        <p:spPr bwMode="auto">
          <a:xfrm>
            <a:off x="914400" y="1676400"/>
            <a:ext cx="7272338" cy="4768850"/>
          </a:xfrm>
          <a:prstGeom prst="rect">
            <a:avLst/>
          </a:prstGeom>
          <a:noFill/>
          <a:ln w="38100" cmpd="dbl">
            <a:solidFill>
              <a:schemeClr val="tx2"/>
            </a:solid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Attributes</a:t>
            </a:r>
          </a:p>
        </p:txBody>
      </p:sp>
      <p:sp>
        <p:nvSpPr>
          <p:cNvPr id="22531" name="Rectangle 3"/>
          <p:cNvSpPr>
            <a:spLocks noGrp="1" noChangeArrowheads="1"/>
          </p:cNvSpPr>
          <p:nvPr>
            <p:ph type="body" idx="1"/>
          </p:nvPr>
        </p:nvSpPr>
        <p:spPr>
          <a:xfrm>
            <a:off x="855663" y="1222375"/>
            <a:ext cx="7966075" cy="5391150"/>
          </a:xfrm>
        </p:spPr>
        <p:txBody>
          <a:bodyPr/>
          <a:lstStyle/>
          <a:p>
            <a:pPr algn="just"/>
            <a:r>
              <a:rPr lang="en-US" sz="1800" dirty="0">
                <a:latin typeface="Times New Roman" pitchFamily="18" charset="0"/>
                <a:cs typeface="Times New Roman" pitchFamily="18" charset="0"/>
              </a:rPr>
              <a:t>An entity is represented by a set of attributes, that is descriptive properties possessed by all members of an entity set.</a:t>
            </a:r>
          </a:p>
          <a:p>
            <a:pPr algn="just">
              <a:buFont typeface="Monotype Sorts" pitchFamily="2" charset="2"/>
              <a:buNone/>
            </a:pPr>
            <a:r>
              <a:rPr lang="en-US" sz="1800" dirty="0">
                <a:latin typeface="Times New Roman" pitchFamily="18" charset="0"/>
                <a:cs typeface="Times New Roman" pitchFamily="18" charset="0"/>
              </a:rPr>
              <a:t>	</a:t>
            </a:r>
            <a:endParaRPr lang="en-US" sz="1800" i="1" dirty="0">
              <a:latin typeface="Times New Roman" pitchFamily="18" charset="0"/>
              <a:cs typeface="Times New Roman" pitchFamily="18" charset="0"/>
            </a:endParaRPr>
          </a:p>
          <a:p>
            <a:pPr algn="just"/>
            <a:endParaRPr lang="en-US" sz="1800" i="1" dirty="0">
              <a:solidFill>
                <a:schemeClr val="tx2"/>
              </a:solidFill>
              <a:latin typeface="Times New Roman" pitchFamily="18" charset="0"/>
              <a:cs typeface="Times New Roman" pitchFamily="18" charset="0"/>
            </a:endParaRPr>
          </a:p>
          <a:p>
            <a:pPr algn="just">
              <a:buNone/>
            </a:pPr>
            <a:r>
              <a:rPr lang="en-US" sz="1800" i="1" dirty="0">
                <a:solidFill>
                  <a:schemeClr val="tx2"/>
                </a:solidFill>
                <a:latin typeface="Times New Roman" pitchFamily="18" charset="0"/>
                <a:cs typeface="Times New Roman" pitchFamily="18" charset="0"/>
              </a:rPr>
              <a:t>                 </a:t>
            </a:r>
          </a:p>
          <a:p>
            <a:pPr algn="just">
              <a:buNone/>
            </a:pPr>
            <a:endParaRPr lang="en-US" sz="1800" i="1" dirty="0">
              <a:solidFill>
                <a:schemeClr val="tx2"/>
              </a:solidFill>
              <a:latin typeface="Times New Roman" pitchFamily="18" charset="0"/>
              <a:cs typeface="Times New Roman" pitchFamily="18" charset="0"/>
            </a:endParaRPr>
          </a:p>
          <a:p>
            <a:pPr algn="just"/>
            <a:r>
              <a:rPr lang="en-US" sz="1800" b="1" dirty="0">
                <a:solidFill>
                  <a:schemeClr val="tx2"/>
                </a:solidFill>
                <a:latin typeface="Times New Roman" pitchFamily="18" charset="0"/>
                <a:cs typeface="Times New Roman" pitchFamily="18" charset="0"/>
              </a:rPr>
              <a:t>Domain</a:t>
            </a:r>
            <a:r>
              <a:rPr lang="en-US" sz="1800" dirty="0">
                <a:latin typeface="Times New Roman" pitchFamily="18" charset="0"/>
                <a:cs typeface="Times New Roman" pitchFamily="18" charset="0"/>
              </a:rPr>
              <a:t> – the set of permitted values for each attribute </a:t>
            </a:r>
          </a:p>
          <a:p>
            <a:pPr algn="just"/>
            <a:r>
              <a:rPr lang="en-US" sz="1800" dirty="0">
                <a:latin typeface="Times New Roman" pitchFamily="18" charset="0"/>
                <a:cs typeface="Times New Roman" pitchFamily="18" charset="0"/>
              </a:rPr>
              <a:t>Attribute types:</a:t>
            </a:r>
          </a:p>
          <a:p>
            <a:pPr lvl="1" algn="just"/>
            <a:r>
              <a:rPr lang="en-US" sz="1800" i="1" dirty="0">
                <a:latin typeface="Times New Roman" pitchFamily="18" charset="0"/>
                <a:cs typeface="Times New Roman" pitchFamily="18" charset="0"/>
              </a:rPr>
              <a:t>Simple</a:t>
            </a:r>
            <a:r>
              <a:rPr lang="en-US" sz="1800" dirty="0">
                <a:latin typeface="Times New Roman" pitchFamily="18" charset="0"/>
                <a:cs typeface="Times New Roman" pitchFamily="18" charset="0"/>
              </a:rPr>
              <a:t> and </a:t>
            </a:r>
            <a:r>
              <a:rPr lang="en-US" sz="1800" i="1" dirty="0">
                <a:latin typeface="Times New Roman" pitchFamily="18" charset="0"/>
                <a:cs typeface="Times New Roman" pitchFamily="18" charset="0"/>
              </a:rPr>
              <a:t>composite</a:t>
            </a:r>
            <a:r>
              <a:rPr lang="en-US" sz="1800" dirty="0">
                <a:latin typeface="Times New Roman" pitchFamily="18" charset="0"/>
                <a:cs typeface="Times New Roman" pitchFamily="18" charset="0"/>
              </a:rPr>
              <a:t> attributes.</a:t>
            </a:r>
          </a:p>
          <a:p>
            <a:pPr lvl="1" algn="just"/>
            <a:r>
              <a:rPr lang="en-US" sz="1800" i="1" dirty="0">
                <a:latin typeface="Times New Roman" pitchFamily="18" charset="0"/>
                <a:cs typeface="Times New Roman" pitchFamily="18" charset="0"/>
              </a:rPr>
              <a:t>Single-valued</a:t>
            </a:r>
            <a:r>
              <a:rPr lang="en-US" sz="1800" dirty="0">
                <a:latin typeface="Times New Roman" pitchFamily="18" charset="0"/>
                <a:cs typeface="Times New Roman" pitchFamily="18" charset="0"/>
              </a:rPr>
              <a:t> and </a:t>
            </a:r>
            <a:r>
              <a:rPr lang="en-US" sz="1800" i="1" dirty="0">
                <a:latin typeface="Times New Roman" pitchFamily="18" charset="0"/>
                <a:cs typeface="Times New Roman" pitchFamily="18" charset="0"/>
              </a:rPr>
              <a:t>multi-valued</a:t>
            </a:r>
            <a:r>
              <a:rPr lang="en-US" sz="1800" dirty="0">
                <a:latin typeface="Times New Roman" pitchFamily="18" charset="0"/>
                <a:cs typeface="Times New Roman" pitchFamily="18" charset="0"/>
              </a:rPr>
              <a:t> attributes</a:t>
            </a:r>
          </a:p>
          <a:p>
            <a:pPr lvl="2" algn="just"/>
            <a:r>
              <a:rPr lang="en-US" sz="1800" dirty="0">
                <a:latin typeface="Times New Roman" pitchFamily="18" charset="0"/>
                <a:cs typeface="Times New Roman" pitchFamily="18" charset="0"/>
              </a:rPr>
              <a:t>Example: multivalued attribute: </a:t>
            </a:r>
            <a:r>
              <a:rPr lang="en-US" sz="1800" i="1" dirty="0" err="1">
                <a:latin typeface="Times New Roman" pitchFamily="18" charset="0"/>
                <a:cs typeface="Times New Roman" pitchFamily="18" charset="0"/>
              </a:rPr>
              <a:t>phone_numbers</a:t>
            </a:r>
            <a:endParaRPr lang="en-US" sz="1800" i="1" dirty="0">
              <a:latin typeface="Times New Roman" pitchFamily="18" charset="0"/>
              <a:cs typeface="Times New Roman" pitchFamily="18" charset="0"/>
            </a:endParaRPr>
          </a:p>
          <a:p>
            <a:pPr lvl="1" algn="just"/>
            <a:r>
              <a:rPr lang="en-US" sz="1800" i="1" dirty="0">
                <a:latin typeface="Times New Roman" pitchFamily="18" charset="0"/>
                <a:cs typeface="Times New Roman" pitchFamily="18" charset="0"/>
              </a:rPr>
              <a:t>Derived</a:t>
            </a:r>
            <a:r>
              <a:rPr lang="en-US" sz="1800" dirty="0">
                <a:latin typeface="Times New Roman" pitchFamily="18" charset="0"/>
                <a:cs typeface="Times New Roman" pitchFamily="18" charset="0"/>
              </a:rPr>
              <a:t> attributes</a:t>
            </a:r>
          </a:p>
          <a:p>
            <a:pPr lvl="2" algn="just"/>
            <a:r>
              <a:rPr lang="en-US" sz="1800" dirty="0">
                <a:latin typeface="Times New Roman" pitchFamily="18" charset="0"/>
                <a:cs typeface="Times New Roman" pitchFamily="18" charset="0"/>
              </a:rPr>
              <a:t>Can be computed from other attributes</a:t>
            </a:r>
          </a:p>
          <a:p>
            <a:pPr lvl="2" algn="just"/>
            <a:r>
              <a:rPr lang="en-US" sz="1800" dirty="0">
                <a:latin typeface="Times New Roman" pitchFamily="18" charset="0"/>
                <a:cs typeface="Times New Roman" pitchFamily="18" charset="0"/>
              </a:rPr>
              <a:t>Example:  age, given </a:t>
            </a:r>
            <a:r>
              <a:rPr lang="en-US" sz="1800" dirty="0" err="1">
                <a:latin typeface="Times New Roman" pitchFamily="18" charset="0"/>
                <a:cs typeface="Times New Roman" pitchFamily="18" charset="0"/>
              </a:rPr>
              <a:t>date_of_birth</a:t>
            </a:r>
            <a:endParaRPr lang="en-US" sz="1800" dirty="0">
              <a:latin typeface="Times New Roman" pitchFamily="18" charset="0"/>
              <a:cs typeface="Times New Roman" pitchFamily="18" charset="0"/>
            </a:endParaRPr>
          </a:p>
        </p:txBody>
      </p:sp>
      <p:sp>
        <p:nvSpPr>
          <p:cNvPr id="22532" name="Text Box 6"/>
          <p:cNvSpPr txBox="1">
            <a:spLocks noChangeArrowheads="1"/>
          </p:cNvSpPr>
          <p:nvPr/>
        </p:nvSpPr>
        <p:spPr bwMode="auto">
          <a:xfrm>
            <a:off x="1454150" y="1793875"/>
            <a:ext cx="6094413" cy="1283428"/>
          </a:xfrm>
          <a:prstGeom prst="rect">
            <a:avLst/>
          </a:prstGeom>
          <a:noFill/>
          <a:ln w="9525">
            <a:noFill/>
            <a:miter lim="800000"/>
            <a:headEnd/>
            <a:tailEnd/>
          </a:ln>
        </p:spPr>
        <p:txBody>
          <a:bodyPr>
            <a:spAutoFit/>
          </a:bodyPr>
          <a:lstStyle/>
          <a:p>
            <a:pPr>
              <a:lnSpc>
                <a:spcPct val="90000"/>
              </a:lnSpc>
              <a:spcBef>
                <a:spcPct val="35000"/>
              </a:spcBef>
              <a:buClr>
                <a:schemeClr val="tx2"/>
              </a:buClr>
              <a:buSzPct val="90000"/>
              <a:buFont typeface="Monotype Sorts" pitchFamily="2" charset="2"/>
              <a:buNone/>
            </a:pPr>
            <a:r>
              <a:rPr kumimoji="1" lang="en-US" dirty="0">
                <a:latin typeface="Times New Roman" pitchFamily="18" charset="0"/>
                <a:cs typeface="Times New Roman" pitchFamily="18" charset="0"/>
              </a:rPr>
              <a:t>Example: </a:t>
            </a:r>
          </a:p>
          <a:p>
            <a:pPr>
              <a:lnSpc>
                <a:spcPct val="90000"/>
              </a:lnSpc>
              <a:spcBef>
                <a:spcPct val="35000"/>
              </a:spcBef>
              <a:buClr>
                <a:schemeClr val="tx2"/>
              </a:buClr>
              <a:buSzPct val="90000"/>
              <a:buFont typeface="Monotype Sorts" pitchFamily="2" charset="2"/>
              <a:buNone/>
            </a:pPr>
            <a:r>
              <a:rPr kumimoji="1" lang="en-US" i="1" dirty="0">
                <a:latin typeface="Times New Roman" pitchFamily="18" charset="0"/>
                <a:cs typeface="Times New Roman" pitchFamily="18" charset="0"/>
              </a:rPr>
              <a:t>customer = </a:t>
            </a:r>
            <a:r>
              <a:rPr kumimoji="1" lang="en-US" dirty="0">
                <a:latin typeface="Times New Roman" pitchFamily="18" charset="0"/>
                <a:cs typeface="Times New Roman" pitchFamily="18" charset="0"/>
              </a:rPr>
              <a:t>(</a:t>
            </a:r>
            <a:r>
              <a:rPr kumimoji="1" lang="en-US" i="1" dirty="0">
                <a:latin typeface="Times New Roman" pitchFamily="18" charset="0"/>
                <a:cs typeface="Times New Roman" pitchFamily="18" charset="0"/>
              </a:rPr>
              <a:t>customer_id, customer_name, customer_street, 	    </a:t>
            </a:r>
            <a:r>
              <a:rPr kumimoji="1" lang="en-US" i="1" dirty="0" err="1">
                <a:latin typeface="Times New Roman" pitchFamily="18" charset="0"/>
                <a:cs typeface="Times New Roman" pitchFamily="18" charset="0"/>
              </a:rPr>
              <a:t>customer_city</a:t>
            </a:r>
            <a:r>
              <a:rPr kumimoji="1" lang="en-US" i="1" dirty="0">
                <a:latin typeface="Times New Roman" pitchFamily="18" charset="0"/>
                <a:cs typeface="Times New Roman" pitchFamily="18" charset="0"/>
              </a:rPr>
              <a:t> </a:t>
            </a:r>
            <a:r>
              <a:rPr kumimoji="1" lang="en-US" dirty="0">
                <a:latin typeface="Times New Roman" pitchFamily="18" charset="0"/>
                <a:cs typeface="Times New Roman" pitchFamily="18" charset="0"/>
              </a:rPr>
              <a:t>)</a:t>
            </a:r>
          </a:p>
          <a:p>
            <a:pPr>
              <a:lnSpc>
                <a:spcPct val="90000"/>
              </a:lnSpc>
              <a:spcBef>
                <a:spcPct val="35000"/>
              </a:spcBef>
              <a:buClr>
                <a:schemeClr val="tx2"/>
              </a:buClr>
              <a:buSzPct val="90000"/>
              <a:buFont typeface="Monotype Sorts" pitchFamily="2" charset="2"/>
              <a:buNone/>
            </a:pPr>
            <a:r>
              <a:rPr kumimoji="1" lang="en-US" i="1" dirty="0">
                <a:latin typeface="Times New Roman" pitchFamily="18" charset="0"/>
                <a:cs typeface="Times New Roman" pitchFamily="18" charset="0"/>
              </a:rPr>
              <a:t>loan = </a:t>
            </a:r>
            <a:r>
              <a:rPr kumimoji="1" lang="en-US" dirty="0">
                <a:latin typeface="Times New Roman" pitchFamily="18" charset="0"/>
                <a:cs typeface="Times New Roman" pitchFamily="18" charset="0"/>
              </a:rPr>
              <a:t>(</a:t>
            </a:r>
            <a:r>
              <a:rPr kumimoji="1" lang="en-US" i="1" dirty="0" err="1">
                <a:latin typeface="Times New Roman" pitchFamily="18" charset="0"/>
                <a:cs typeface="Times New Roman" pitchFamily="18" charset="0"/>
              </a:rPr>
              <a:t>loan_number</a:t>
            </a:r>
            <a:r>
              <a:rPr kumimoji="1" lang="en-US" i="1" dirty="0">
                <a:latin typeface="Times New Roman" pitchFamily="18" charset="0"/>
                <a:cs typeface="Times New Roman" pitchFamily="18" charset="0"/>
              </a:rPr>
              <a:t>, amount </a:t>
            </a:r>
            <a:r>
              <a:rPr kumimoji="1" lang="en-US" dirty="0">
                <a:latin typeface="Times New Roman" pitchFamily="18" charset="0"/>
                <a:cs typeface="Times New Roman" pitchFamily="18" charset="0"/>
              </a:rPr>
              <a:t>)</a:t>
            </a:r>
            <a:endParaRPr kumimoji="1" lang="en-US" i="1"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0" y="0"/>
            <a:ext cx="9144000" cy="609600"/>
          </a:xfrm>
        </p:spPr>
        <p:txBody>
          <a:bodyPr>
            <a:normAutofit/>
          </a:bodyPr>
          <a:lstStyle/>
          <a:p>
            <a:pPr>
              <a:defRPr/>
            </a:pPr>
            <a:r>
              <a:rPr lang="en-US" sz="3200" dirty="0">
                <a:latin typeface="Times New Roman" pitchFamily="18" charset="0"/>
                <a:cs typeface="Times New Roman" pitchFamily="18" charset="0"/>
              </a:rPr>
              <a:t>Composite Attributes</a:t>
            </a:r>
          </a:p>
        </p:txBody>
      </p:sp>
      <p:pic>
        <p:nvPicPr>
          <p:cNvPr id="23555" name="Picture 4"/>
          <p:cNvPicPr>
            <a:picLocks noChangeAspect="1" noChangeArrowheads="1"/>
          </p:cNvPicPr>
          <p:nvPr/>
        </p:nvPicPr>
        <p:blipFill>
          <a:blip r:embed="rId2"/>
          <a:srcRect l="421" t="28589" r="1051" b="28870"/>
          <a:stretch>
            <a:fillRect/>
          </a:stretch>
        </p:blipFill>
        <p:spPr bwMode="auto">
          <a:xfrm>
            <a:off x="846138" y="1724025"/>
            <a:ext cx="7578725" cy="2454275"/>
          </a:xfrm>
          <a:prstGeom prst="rect">
            <a:avLst/>
          </a:prstGeom>
          <a:noFill/>
          <a:ln w="38100" cmpd="dbl">
            <a:solidFill>
              <a:schemeClr val="tx2"/>
            </a:solid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Relationship Sets</a:t>
            </a:r>
          </a:p>
        </p:txBody>
      </p:sp>
      <p:sp>
        <p:nvSpPr>
          <p:cNvPr id="18435" name="Rectangle 3"/>
          <p:cNvSpPr>
            <a:spLocks noGrp="1" noChangeArrowheads="1"/>
          </p:cNvSpPr>
          <p:nvPr>
            <p:ph type="body" idx="1"/>
          </p:nvPr>
        </p:nvSpPr>
        <p:spPr>
          <a:xfrm>
            <a:off x="855663" y="1222375"/>
            <a:ext cx="7848600" cy="4876800"/>
          </a:xfrm>
        </p:spPr>
        <p:txBody>
          <a:bodyPr/>
          <a:lstStyle/>
          <a:p>
            <a:pPr>
              <a:tabLst>
                <a:tab pos="1536700" algn="ctr"/>
                <a:tab pos="3543300" algn="ctr"/>
                <a:tab pos="5481638" algn="ctr"/>
              </a:tabLst>
            </a:pPr>
            <a:r>
              <a:rPr lang="en-US" sz="1800" dirty="0">
                <a:latin typeface="Times New Roman" pitchFamily="18" charset="0"/>
                <a:cs typeface="Times New Roman" pitchFamily="18" charset="0"/>
              </a:rPr>
              <a:t>A </a:t>
            </a:r>
            <a:r>
              <a:rPr lang="en-US" sz="1800" b="1" dirty="0">
                <a:solidFill>
                  <a:schemeClr val="tx2"/>
                </a:solidFill>
                <a:latin typeface="Times New Roman" pitchFamily="18" charset="0"/>
                <a:cs typeface="Times New Roman" pitchFamily="18" charset="0"/>
              </a:rPr>
              <a:t>relationship</a:t>
            </a:r>
            <a:r>
              <a:rPr lang="en-US" sz="1800" dirty="0">
                <a:latin typeface="Times New Roman" pitchFamily="18" charset="0"/>
                <a:cs typeface="Times New Roman" pitchFamily="18" charset="0"/>
              </a:rPr>
              <a:t> is an association among several entities</a:t>
            </a:r>
          </a:p>
          <a:p>
            <a:pPr>
              <a:buFont typeface="Monotype Sorts" pitchFamily="2" charset="2"/>
              <a:buNone/>
              <a:tabLst>
                <a:tab pos="1536700" algn="ctr"/>
                <a:tab pos="3543300" algn="ctr"/>
                <a:tab pos="5481638" algn="ctr"/>
              </a:tabLst>
            </a:pPr>
            <a:r>
              <a:rPr lang="en-US" sz="1800" dirty="0">
                <a:latin typeface="Times New Roman" pitchFamily="18" charset="0"/>
                <a:cs typeface="Times New Roman" pitchFamily="18" charset="0"/>
              </a:rPr>
              <a:t>	Example: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u="sng" dirty="0">
                <a:latin typeface="Times New Roman" pitchFamily="18" charset="0"/>
                <a:cs typeface="Times New Roman" pitchFamily="18" charset="0"/>
              </a:rPr>
              <a:t>Hayes</a:t>
            </a:r>
            <a:r>
              <a:rPr lang="en-US" sz="1800" dirty="0">
                <a:latin typeface="Times New Roman" pitchFamily="18" charset="0"/>
                <a:cs typeface="Times New Roman" pitchFamily="18" charset="0"/>
              </a:rPr>
              <a:t>	</a:t>
            </a:r>
            <a:r>
              <a:rPr lang="en-US" sz="1800" i="1" u="sng" dirty="0">
                <a:latin typeface="Times New Roman" pitchFamily="18" charset="0"/>
                <a:cs typeface="Times New Roman" pitchFamily="18" charset="0"/>
              </a:rPr>
              <a:t>depositor</a:t>
            </a:r>
            <a:r>
              <a:rPr lang="en-US" sz="1800" dirty="0">
                <a:latin typeface="Times New Roman" pitchFamily="18" charset="0"/>
                <a:cs typeface="Times New Roman" pitchFamily="18" charset="0"/>
              </a:rPr>
              <a:t>	</a:t>
            </a:r>
            <a:r>
              <a:rPr lang="en-US" sz="1800" u="sng" dirty="0">
                <a:latin typeface="Times New Roman" pitchFamily="18" charset="0"/>
                <a:cs typeface="Times New Roman" pitchFamily="18" charset="0"/>
              </a:rPr>
              <a:t>A-102</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	</a:t>
            </a:r>
            <a:r>
              <a:rPr lang="en-US" sz="1800" i="1" dirty="0">
                <a:latin typeface="Times New Roman" pitchFamily="18" charset="0"/>
                <a:cs typeface="Times New Roman" pitchFamily="18" charset="0"/>
              </a:rPr>
              <a:t>customer</a:t>
            </a:r>
            <a:r>
              <a:rPr lang="en-US" sz="1800" dirty="0">
                <a:latin typeface="Times New Roman" pitchFamily="18" charset="0"/>
                <a:cs typeface="Times New Roman" pitchFamily="18" charset="0"/>
              </a:rPr>
              <a:t> entity	relationship set	</a:t>
            </a:r>
            <a:r>
              <a:rPr lang="en-US" sz="1800" i="1" dirty="0">
                <a:latin typeface="Times New Roman" pitchFamily="18" charset="0"/>
                <a:cs typeface="Times New Roman" pitchFamily="18" charset="0"/>
              </a:rPr>
              <a:t>account</a:t>
            </a:r>
            <a:r>
              <a:rPr lang="en-US" sz="1800" dirty="0">
                <a:latin typeface="Times New Roman" pitchFamily="18" charset="0"/>
                <a:cs typeface="Times New Roman" pitchFamily="18" charset="0"/>
              </a:rPr>
              <a:t> entity</a:t>
            </a:r>
          </a:p>
          <a:p>
            <a:pPr>
              <a:tabLst>
                <a:tab pos="1536700" algn="ctr"/>
                <a:tab pos="3543300" algn="ctr"/>
                <a:tab pos="5481638" algn="ctr"/>
              </a:tabLst>
            </a:pPr>
            <a:r>
              <a:rPr lang="en-US" sz="1800" dirty="0">
                <a:latin typeface="Times New Roman" pitchFamily="18" charset="0"/>
                <a:cs typeface="Times New Roman" pitchFamily="18" charset="0"/>
              </a:rPr>
              <a:t>A </a:t>
            </a:r>
            <a:r>
              <a:rPr lang="en-US" sz="1800" b="1" dirty="0">
                <a:solidFill>
                  <a:schemeClr val="tx2"/>
                </a:solidFill>
                <a:latin typeface="Times New Roman" pitchFamily="18" charset="0"/>
                <a:cs typeface="Times New Roman" pitchFamily="18" charset="0"/>
              </a:rPr>
              <a:t>relationship set</a:t>
            </a:r>
            <a:r>
              <a:rPr lang="en-US" sz="1800" dirty="0">
                <a:latin typeface="Times New Roman" pitchFamily="18" charset="0"/>
                <a:cs typeface="Times New Roman" pitchFamily="18" charset="0"/>
              </a:rPr>
              <a:t> is a mathematical relation among </a:t>
            </a:r>
            <a:r>
              <a:rPr lang="en-US" sz="1800" i="1" dirty="0">
                <a:latin typeface="Times New Roman" pitchFamily="18" charset="0"/>
                <a:cs typeface="Times New Roman" pitchFamily="18" charset="0"/>
              </a:rPr>
              <a:t>n</a:t>
            </a:r>
            <a:r>
              <a:rPr lang="en-US" sz="1800" dirty="0">
                <a:latin typeface="Times New Roman" pitchFamily="18" charset="0"/>
                <a:cs typeface="Times New Roman" pitchFamily="18" charset="0"/>
              </a:rPr>
              <a:t> </a:t>
            </a:r>
            <a:r>
              <a:rPr lang="en-US" sz="1800" dirty="0">
                <a:latin typeface="Times New Roman" pitchFamily="18" charset="0"/>
                <a:cs typeface="Times New Roman" pitchFamily="18" charset="0"/>
                <a:sym typeface="Symbol" pitchFamily="18" charset="2"/>
              </a:rPr>
              <a:t> 2 entities, each taken from entity sets</a:t>
            </a:r>
          </a:p>
          <a:p>
            <a:pPr>
              <a:buFont typeface="Monotype Sorts" pitchFamily="2" charset="2"/>
              <a:buNone/>
              <a:tabLst>
                <a:tab pos="1536700" algn="ctr"/>
                <a:tab pos="3543300" algn="ctr"/>
                <a:tab pos="5481638" algn="ctr"/>
              </a:tabLst>
            </a:pPr>
            <a:r>
              <a:rPr lang="en-US" sz="1800" dirty="0">
                <a:latin typeface="Times New Roman" pitchFamily="18" charset="0"/>
                <a:cs typeface="Times New Roman" pitchFamily="18" charset="0"/>
                <a:sym typeface="Symbol" pitchFamily="18" charset="2"/>
              </a:rPr>
              <a:t>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1</a:t>
            </a:r>
            <a:r>
              <a:rPr lang="en-US" sz="1800" dirty="0">
                <a:latin typeface="Times New Roman" pitchFamily="18" charset="0"/>
                <a:cs typeface="Times New Roman" pitchFamily="18" charset="0"/>
                <a:sym typeface="Symbol" pitchFamily="18" charset="2"/>
              </a:rPr>
              <a:t>,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2</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i="1" baseline="-25000" dirty="0">
                <a:latin typeface="Times New Roman" pitchFamily="18" charset="0"/>
                <a:cs typeface="Times New Roman" pitchFamily="18" charset="0"/>
                <a:sym typeface="Symbol" pitchFamily="18" charset="2"/>
              </a:rPr>
              <a:t>n</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1</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1</a:t>
            </a:r>
            <a:r>
              <a:rPr lang="en-US" sz="1800" dirty="0">
                <a:latin typeface="Times New Roman" pitchFamily="18" charset="0"/>
                <a:cs typeface="Times New Roman" pitchFamily="18" charset="0"/>
                <a:sym typeface="Symbol" pitchFamily="18" charset="2"/>
              </a:rPr>
              <a:t>,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2</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2</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i="1" baseline="-25000" dirty="0">
                <a:latin typeface="Times New Roman" pitchFamily="18" charset="0"/>
                <a:cs typeface="Times New Roman" pitchFamily="18" charset="0"/>
                <a:sym typeface="Symbol" pitchFamily="18" charset="2"/>
              </a:rPr>
              <a:t>n</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i="1" baseline="-25000" dirty="0">
                <a:latin typeface="Times New Roman" pitchFamily="18" charset="0"/>
                <a:cs typeface="Times New Roman" pitchFamily="18" charset="0"/>
                <a:sym typeface="Symbol" pitchFamily="18" charset="2"/>
              </a:rPr>
              <a:t>n</a:t>
            </a:r>
            <a:r>
              <a:rPr lang="en-US" sz="1800" dirty="0">
                <a:latin typeface="Times New Roman" pitchFamily="18" charset="0"/>
                <a:cs typeface="Times New Roman" pitchFamily="18" charset="0"/>
                <a:sym typeface="Symbol" pitchFamily="18" charset="2"/>
              </a:rPr>
              <a:t>}</a:t>
            </a:r>
            <a:br>
              <a:rPr lang="en-US" sz="1800" dirty="0">
                <a:latin typeface="Times New Roman" pitchFamily="18" charset="0"/>
                <a:cs typeface="Times New Roman" pitchFamily="18" charset="0"/>
                <a:sym typeface="Symbol" pitchFamily="18" charset="2"/>
              </a:rPr>
            </a:br>
            <a:br>
              <a:rPr lang="en-US" sz="1800" dirty="0">
                <a:latin typeface="Times New Roman" pitchFamily="18" charset="0"/>
                <a:cs typeface="Times New Roman" pitchFamily="18" charset="0"/>
                <a:sym typeface="Symbol" pitchFamily="18" charset="2"/>
              </a:rPr>
            </a:br>
            <a:r>
              <a:rPr lang="en-US" sz="1800" dirty="0">
                <a:latin typeface="Times New Roman" pitchFamily="18" charset="0"/>
                <a:cs typeface="Times New Roman" pitchFamily="18" charset="0"/>
                <a:sym typeface="Symbol" pitchFamily="18" charset="2"/>
              </a:rPr>
              <a:t>where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1</a:t>
            </a:r>
            <a:r>
              <a:rPr lang="en-US" sz="1800" dirty="0">
                <a:latin typeface="Times New Roman" pitchFamily="18" charset="0"/>
                <a:cs typeface="Times New Roman" pitchFamily="18" charset="0"/>
                <a:sym typeface="Symbol" pitchFamily="18" charset="2"/>
              </a:rPr>
              <a:t>, </a:t>
            </a:r>
            <a:r>
              <a:rPr lang="en-US" sz="1800" i="1" dirty="0">
                <a:latin typeface="Times New Roman" pitchFamily="18" charset="0"/>
                <a:cs typeface="Times New Roman" pitchFamily="18" charset="0"/>
                <a:sym typeface="Symbol" pitchFamily="18" charset="2"/>
              </a:rPr>
              <a:t>e</a:t>
            </a:r>
            <a:r>
              <a:rPr lang="en-US" sz="1800" baseline="-25000" dirty="0">
                <a:latin typeface="Times New Roman" pitchFamily="18" charset="0"/>
                <a:cs typeface="Times New Roman" pitchFamily="18" charset="0"/>
                <a:sym typeface="Symbol" pitchFamily="18" charset="2"/>
              </a:rPr>
              <a:t>2</a:t>
            </a:r>
            <a:r>
              <a:rPr lang="en-US" sz="1800" dirty="0">
                <a:latin typeface="Times New Roman" pitchFamily="18" charset="0"/>
                <a:cs typeface="Times New Roman" pitchFamily="18" charset="0"/>
                <a:sym typeface="Symbol" pitchFamily="18" charset="2"/>
              </a:rPr>
              <a:t>, …, </a:t>
            </a:r>
            <a:r>
              <a:rPr lang="en-US" sz="1800" i="1" dirty="0">
                <a:latin typeface="Times New Roman" pitchFamily="18" charset="0"/>
                <a:cs typeface="Times New Roman" pitchFamily="18" charset="0"/>
                <a:sym typeface="Symbol" pitchFamily="18" charset="2"/>
              </a:rPr>
              <a:t>e</a:t>
            </a:r>
            <a:r>
              <a:rPr lang="en-US" sz="1800" i="1" baseline="-25000" dirty="0">
                <a:latin typeface="Times New Roman" pitchFamily="18" charset="0"/>
                <a:cs typeface="Times New Roman" pitchFamily="18" charset="0"/>
                <a:sym typeface="Symbol" pitchFamily="18" charset="2"/>
              </a:rPr>
              <a:t>n</a:t>
            </a:r>
            <a:r>
              <a:rPr lang="en-US" sz="1800" dirty="0">
                <a:latin typeface="Times New Roman" pitchFamily="18" charset="0"/>
                <a:cs typeface="Times New Roman" pitchFamily="18" charset="0"/>
                <a:sym typeface="Symbol" pitchFamily="18" charset="2"/>
              </a:rPr>
              <a:t>) is a relationship</a:t>
            </a:r>
          </a:p>
          <a:p>
            <a:pPr lvl="1">
              <a:tabLst>
                <a:tab pos="1536700" algn="ctr"/>
                <a:tab pos="3543300" algn="ctr"/>
                <a:tab pos="5481638" algn="ctr"/>
              </a:tabLst>
            </a:pPr>
            <a:r>
              <a:rPr lang="en-US" sz="1800" dirty="0">
                <a:latin typeface="Times New Roman" pitchFamily="18" charset="0"/>
                <a:cs typeface="Times New Roman" pitchFamily="18" charset="0"/>
                <a:sym typeface="Symbol" pitchFamily="18" charset="2"/>
              </a:rPr>
              <a:t>Example: </a:t>
            </a:r>
          </a:p>
          <a:p>
            <a:pPr lvl="1">
              <a:buFont typeface="Monotype Sorts" pitchFamily="2" charset="2"/>
              <a:buNone/>
              <a:tabLst>
                <a:tab pos="1536700" algn="ctr"/>
                <a:tab pos="3543300" algn="ctr"/>
                <a:tab pos="5481638" algn="ctr"/>
              </a:tabLst>
            </a:pPr>
            <a:r>
              <a:rPr lang="en-US" sz="1800" dirty="0">
                <a:latin typeface="Times New Roman" pitchFamily="18" charset="0"/>
                <a:cs typeface="Times New Roman" pitchFamily="18" charset="0"/>
                <a:sym typeface="Symbol" pitchFamily="18" charset="2"/>
              </a:rPr>
              <a:t>		        (Hayes, A-102)  </a:t>
            </a:r>
            <a:r>
              <a:rPr lang="en-US" sz="1800" i="1" dirty="0">
                <a:latin typeface="Times New Roman" pitchFamily="18" charset="0"/>
                <a:cs typeface="Times New Roman" pitchFamily="18" charset="0"/>
                <a:sym typeface="Symbol" pitchFamily="18" charset="2"/>
              </a:rPr>
              <a:t>depositor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Relationship Set </a:t>
            </a:r>
            <a:r>
              <a:rPr lang="en-US" sz="3200" i="1" dirty="0">
                <a:latin typeface="Times New Roman" pitchFamily="18" charset="0"/>
                <a:cs typeface="Times New Roman" pitchFamily="18" charset="0"/>
              </a:rPr>
              <a:t>borrower</a:t>
            </a:r>
            <a:endParaRPr lang="en-US" sz="3200" dirty="0">
              <a:latin typeface="Times New Roman" pitchFamily="18" charset="0"/>
              <a:cs typeface="Times New Roman" pitchFamily="18" charset="0"/>
            </a:endParaRPr>
          </a:p>
        </p:txBody>
      </p:sp>
      <p:pic>
        <p:nvPicPr>
          <p:cNvPr id="19459" name="Picture 4"/>
          <p:cNvPicPr>
            <a:picLocks noChangeAspect="1" noChangeArrowheads="1"/>
          </p:cNvPicPr>
          <p:nvPr/>
        </p:nvPicPr>
        <p:blipFill>
          <a:blip r:embed="rId2"/>
          <a:srcRect l="1973" t="7632" r="1973" b="8157"/>
          <a:stretch>
            <a:fillRect/>
          </a:stretch>
        </p:blipFill>
        <p:spPr bwMode="auto">
          <a:xfrm>
            <a:off x="1095375" y="1414463"/>
            <a:ext cx="6953250" cy="4572000"/>
          </a:xfrm>
          <a:prstGeom prst="rect">
            <a:avLst/>
          </a:prstGeom>
          <a:noFill/>
          <a:ln w="38100" cmpd="dbl">
            <a:solidFill>
              <a:schemeClr val="tx2"/>
            </a:solid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Relationship Sets (Cont.)</a:t>
            </a:r>
          </a:p>
        </p:txBody>
      </p:sp>
      <p:sp>
        <p:nvSpPr>
          <p:cNvPr id="20483" name="Rectangle 3"/>
          <p:cNvSpPr>
            <a:spLocks noGrp="1" noChangeArrowheads="1"/>
          </p:cNvSpPr>
          <p:nvPr>
            <p:ph type="body" idx="1"/>
          </p:nvPr>
        </p:nvSpPr>
        <p:spPr>
          <a:xfrm>
            <a:off x="855663" y="1222375"/>
            <a:ext cx="7848600" cy="1171575"/>
          </a:xfrm>
        </p:spPr>
        <p:txBody>
          <a:bodyPr/>
          <a:lstStyle/>
          <a:p>
            <a:pPr algn="just"/>
            <a:r>
              <a:rPr lang="en-US" sz="1800" dirty="0">
                <a:latin typeface="Times New Roman" pitchFamily="18" charset="0"/>
                <a:cs typeface="Times New Roman" pitchFamily="18" charset="0"/>
              </a:rPr>
              <a:t>An </a:t>
            </a:r>
            <a:r>
              <a:rPr lang="en-US" sz="1800" b="1" dirty="0">
                <a:solidFill>
                  <a:schemeClr val="tx2"/>
                </a:solidFill>
                <a:latin typeface="Times New Roman" pitchFamily="18" charset="0"/>
                <a:cs typeface="Times New Roman" pitchFamily="18" charset="0"/>
              </a:rPr>
              <a:t>attribute</a:t>
            </a:r>
            <a:r>
              <a:rPr lang="en-US" sz="1800" dirty="0">
                <a:latin typeface="Times New Roman" pitchFamily="18" charset="0"/>
                <a:cs typeface="Times New Roman" pitchFamily="18" charset="0"/>
              </a:rPr>
              <a:t> can also be property of a relationship set.</a:t>
            </a:r>
          </a:p>
          <a:p>
            <a:pPr algn="just">
              <a:lnSpc>
                <a:spcPct val="90000"/>
              </a:lnSpc>
            </a:pPr>
            <a:r>
              <a:rPr lang="en-US" sz="1800" dirty="0">
                <a:latin typeface="Times New Roman" pitchFamily="18" charset="0"/>
                <a:cs typeface="Times New Roman" pitchFamily="18" charset="0"/>
              </a:rPr>
              <a:t>For instance, the </a:t>
            </a:r>
            <a:r>
              <a:rPr lang="en-US" sz="1800" i="1" dirty="0">
                <a:latin typeface="Times New Roman" pitchFamily="18" charset="0"/>
                <a:cs typeface="Times New Roman" pitchFamily="18" charset="0"/>
              </a:rPr>
              <a:t>depositor </a:t>
            </a:r>
            <a:r>
              <a:rPr lang="en-US" sz="1800" dirty="0">
                <a:latin typeface="Times New Roman" pitchFamily="18" charset="0"/>
                <a:cs typeface="Times New Roman" pitchFamily="18" charset="0"/>
              </a:rPr>
              <a:t>relationship set between entity sets </a:t>
            </a:r>
            <a:r>
              <a:rPr lang="en-US" sz="1800" i="1" dirty="0">
                <a:latin typeface="Times New Roman" pitchFamily="18" charset="0"/>
                <a:cs typeface="Times New Roman" pitchFamily="18" charset="0"/>
              </a:rPr>
              <a:t>customer </a:t>
            </a:r>
            <a:r>
              <a:rPr lang="en-US" sz="1800" dirty="0">
                <a:latin typeface="Times New Roman" pitchFamily="18" charset="0"/>
                <a:cs typeface="Times New Roman" pitchFamily="18" charset="0"/>
              </a:rPr>
              <a:t>and </a:t>
            </a:r>
            <a:r>
              <a:rPr lang="en-US" sz="1800" i="1" dirty="0">
                <a:latin typeface="Times New Roman" pitchFamily="18" charset="0"/>
                <a:cs typeface="Times New Roman" pitchFamily="18" charset="0"/>
              </a:rPr>
              <a:t>account </a:t>
            </a:r>
            <a:r>
              <a:rPr lang="en-US" sz="1800" dirty="0">
                <a:latin typeface="Times New Roman" pitchFamily="18" charset="0"/>
                <a:cs typeface="Times New Roman" pitchFamily="18" charset="0"/>
              </a:rPr>
              <a:t>may have the attribute </a:t>
            </a:r>
            <a:r>
              <a:rPr lang="en-US" sz="1800" i="1" dirty="0">
                <a:latin typeface="Times New Roman" pitchFamily="18" charset="0"/>
                <a:cs typeface="Times New Roman" pitchFamily="18" charset="0"/>
              </a:rPr>
              <a:t>access-date</a:t>
            </a:r>
            <a:endParaRPr lang="en-US" sz="1800" dirty="0">
              <a:latin typeface="Times New Roman" pitchFamily="18" charset="0"/>
              <a:cs typeface="Times New Roman" pitchFamily="18" charset="0"/>
            </a:endParaRPr>
          </a:p>
        </p:txBody>
      </p:sp>
      <p:pic>
        <p:nvPicPr>
          <p:cNvPr id="20484" name="Picture 7"/>
          <p:cNvPicPr>
            <a:picLocks noChangeAspect="1" noChangeArrowheads="1"/>
          </p:cNvPicPr>
          <p:nvPr/>
        </p:nvPicPr>
        <p:blipFill>
          <a:blip r:embed="rId2"/>
          <a:srcRect l="436" t="6686" r="655" b="6395"/>
          <a:stretch>
            <a:fillRect/>
          </a:stretch>
        </p:blipFill>
        <p:spPr bwMode="auto">
          <a:xfrm>
            <a:off x="1804988" y="2478088"/>
            <a:ext cx="5789612" cy="3816350"/>
          </a:xfrm>
          <a:prstGeom prst="rect">
            <a:avLst/>
          </a:prstGeom>
          <a:noFill/>
          <a:ln w="38100" cmpd="dbl">
            <a:solidFill>
              <a:schemeClr val="tx2"/>
            </a:solid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FFC7-E236-6782-4E4D-69286C000B48}"/>
              </a:ext>
            </a:extLst>
          </p:cNvPr>
          <p:cNvSpPr>
            <a:spLocks noGrp="1"/>
          </p:cNvSpPr>
          <p:nvPr>
            <p:ph type="title"/>
          </p:nvPr>
        </p:nvSpPr>
        <p:spPr/>
        <p:txBody>
          <a:bodyPr/>
          <a:lstStyle/>
          <a:p>
            <a:r>
              <a:rPr lang="en-US" b="1" dirty="0"/>
              <a:t>Degree of Relationship</a:t>
            </a:r>
          </a:p>
        </p:txBody>
      </p:sp>
      <p:sp>
        <p:nvSpPr>
          <p:cNvPr id="4" name="TextBox 3">
            <a:extLst>
              <a:ext uri="{FF2B5EF4-FFF2-40B4-BE49-F238E27FC236}">
                <a16:creationId xmlns:a16="http://schemas.microsoft.com/office/drawing/2014/main" id="{A022B9F9-18F4-C9A2-63DD-3924DE09FEB3}"/>
              </a:ext>
            </a:extLst>
          </p:cNvPr>
          <p:cNvSpPr txBox="1"/>
          <p:nvPr/>
        </p:nvSpPr>
        <p:spPr>
          <a:xfrm>
            <a:off x="762000" y="1752600"/>
            <a:ext cx="7772400" cy="3693319"/>
          </a:xfrm>
          <a:prstGeom prst="rect">
            <a:avLst/>
          </a:prstGeom>
          <a:noFill/>
        </p:spPr>
        <p:txBody>
          <a:bodyPr wrap="square">
            <a:spAutoFit/>
          </a:bodyPr>
          <a:lstStyle/>
          <a:p>
            <a:r>
              <a:rPr lang="en-US" b="0" i="0" dirty="0">
                <a:effectLst/>
                <a:latin typeface="urw-din"/>
              </a:rPr>
              <a:t>A set of relationships of the same type is known as a relationship set. The following relationship set depicts S1 as enrolled in C2, S2 is enrolled in C1, and S3 is enrolled in C3.  </a:t>
            </a:r>
          </a:p>
          <a:p>
            <a:endParaRPr lang="en-US" b="0" i="0" dirty="0">
              <a:effectLst/>
              <a:latin typeface="urw-din"/>
            </a:endParaRPr>
          </a:p>
          <a:p>
            <a:pPr algn="l" fontAlgn="base"/>
            <a:r>
              <a:rPr lang="en-US" b="1" i="0" dirty="0">
                <a:effectLst/>
                <a:latin typeface="urw-din"/>
              </a:rPr>
              <a:t>Degree of a relationship set: </a:t>
            </a:r>
          </a:p>
          <a:p>
            <a:pPr algn="l" fontAlgn="base"/>
            <a:r>
              <a:rPr lang="en-US" b="0" i="0" dirty="0">
                <a:effectLst/>
                <a:latin typeface="urw-din"/>
              </a:rPr>
              <a:t>The number of different entity sets </a:t>
            </a:r>
            <a:r>
              <a:rPr lang="en-US" b="1" i="0" dirty="0">
                <a:effectLst/>
                <a:latin typeface="urw-din"/>
              </a:rPr>
              <a:t>participating in a relationship</a:t>
            </a:r>
            <a:r>
              <a:rPr lang="en-US" b="0" i="0" dirty="0">
                <a:effectLst/>
                <a:latin typeface="urw-din"/>
              </a:rPr>
              <a:t> set is called as the degree of a relationship set.  </a:t>
            </a:r>
          </a:p>
          <a:p>
            <a:pPr algn="l" fontAlgn="base"/>
            <a:endParaRPr lang="en-US" b="0" i="0" dirty="0">
              <a:effectLst/>
              <a:latin typeface="urw-din"/>
            </a:endParaRPr>
          </a:p>
          <a:p>
            <a:pPr algn="l" fontAlgn="base"/>
            <a:r>
              <a:rPr lang="en-US" b="1" i="0" dirty="0">
                <a:effectLst/>
                <a:latin typeface="urw-din"/>
              </a:rPr>
              <a:t>1. Unary Relationship –</a:t>
            </a:r>
            <a:r>
              <a:rPr lang="en-US" b="0" i="0" dirty="0">
                <a:effectLst/>
                <a:latin typeface="urw-din"/>
              </a:rPr>
              <a:t> </a:t>
            </a:r>
            <a:br>
              <a:rPr lang="en-US" dirty="0"/>
            </a:br>
            <a:r>
              <a:rPr lang="en-US" b="0" i="0" dirty="0">
                <a:effectLst/>
                <a:latin typeface="urw-din"/>
              </a:rPr>
              <a:t>When there is </a:t>
            </a:r>
            <a:r>
              <a:rPr lang="en-US" b="1" i="0" dirty="0">
                <a:effectLst/>
                <a:latin typeface="urw-din"/>
              </a:rPr>
              <a:t>only ONE entity set participating in a relation</a:t>
            </a:r>
            <a:r>
              <a:rPr lang="en-US" b="0" i="0" dirty="0">
                <a:effectLst/>
                <a:latin typeface="urw-din"/>
              </a:rPr>
              <a:t>, the relationship is called a unary relationship. For example, one person is married to only one person. </a:t>
            </a:r>
          </a:p>
          <a:p>
            <a:endParaRPr lang="en-US" dirty="0"/>
          </a:p>
        </p:txBody>
      </p:sp>
      <p:pic>
        <p:nvPicPr>
          <p:cNvPr id="6146" name="Picture 2" descr="er10">
            <a:extLst>
              <a:ext uri="{FF2B5EF4-FFF2-40B4-BE49-F238E27FC236}">
                <a16:creationId xmlns:a16="http://schemas.microsoft.com/office/drawing/2014/main" id="{B852AFF5-A216-93B5-EBD6-89E863AB8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725" y="4929326"/>
            <a:ext cx="5162550" cy="1703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0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53226-421B-3892-D1CB-7AE1553EAEB2}"/>
              </a:ext>
            </a:extLst>
          </p:cNvPr>
          <p:cNvSpPr>
            <a:spLocks noGrp="1"/>
          </p:cNvSpPr>
          <p:nvPr>
            <p:ph type="title"/>
          </p:nvPr>
        </p:nvSpPr>
        <p:spPr/>
        <p:txBody>
          <a:bodyPr/>
          <a:lstStyle/>
          <a:p>
            <a:r>
              <a:rPr lang="en-US" b="1" dirty="0"/>
              <a:t>Degree of Relationship cot..</a:t>
            </a:r>
            <a:endParaRPr lang="en-US" dirty="0"/>
          </a:p>
        </p:txBody>
      </p:sp>
      <p:sp>
        <p:nvSpPr>
          <p:cNvPr id="4" name="TextBox 3">
            <a:extLst>
              <a:ext uri="{FF2B5EF4-FFF2-40B4-BE49-F238E27FC236}">
                <a16:creationId xmlns:a16="http://schemas.microsoft.com/office/drawing/2014/main" id="{89AEBCAD-6366-4054-95C4-4392A12D8488}"/>
              </a:ext>
            </a:extLst>
          </p:cNvPr>
          <p:cNvSpPr txBox="1"/>
          <p:nvPr/>
        </p:nvSpPr>
        <p:spPr>
          <a:xfrm>
            <a:off x="533400" y="1295400"/>
            <a:ext cx="8229600" cy="5016758"/>
          </a:xfrm>
          <a:prstGeom prst="rect">
            <a:avLst/>
          </a:prstGeom>
          <a:noFill/>
        </p:spPr>
        <p:txBody>
          <a:bodyPr wrap="square">
            <a:spAutoFit/>
          </a:bodyPr>
          <a:lstStyle/>
          <a:p>
            <a:endParaRPr lang="en-US" dirty="0"/>
          </a:p>
          <a:p>
            <a:r>
              <a:rPr lang="en-US" b="1" dirty="0"/>
              <a:t>2. Binary Relationship – </a:t>
            </a:r>
          </a:p>
          <a:p>
            <a:r>
              <a:rPr lang="en-US" dirty="0"/>
              <a:t>When there are TWO entities set participating in a relationship, the relationship is called a binary relationship. For example, a Student is enrolled in a Course. </a:t>
            </a:r>
          </a:p>
          <a:p>
            <a:endParaRPr lang="en-US" dirty="0"/>
          </a:p>
          <a:p>
            <a:endParaRPr lang="en-US" dirty="0"/>
          </a:p>
          <a:p>
            <a:endParaRPr lang="en-US" dirty="0"/>
          </a:p>
          <a:p>
            <a:endParaRPr lang="en-US" dirty="0"/>
          </a:p>
          <a:p>
            <a:endParaRPr lang="en-US" dirty="0"/>
          </a:p>
          <a:p>
            <a:r>
              <a:rPr lang="en-US" dirty="0"/>
              <a:t>er11</a:t>
            </a:r>
          </a:p>
          <a:p>
            <a:r>
              <a:rPr lang="en-US" b="1" dirty="0"/>
              <a:t>3. n-</a:t>
            </a:r>
            <a:r>
              <a:rPr lang="en-US" b="1" dirty="0" err="1"/>
              <a:t>ary</a:t>
            </a:r>
            <a:r>
              <a:rPr lang="en-US" b="1" dirty="0"/>
              <a:t> Relationship – </a:t>
            </a:r>
          </a:p>
          <a:p>
            <a:r>
              <a:rPr lang="en-US" dirty="0"/>
              <a:t>When there are n entities set participating in a relation, the relationship is called an </a:t>
            </a:r>
            <a:r>
              <a:rPr lang="en-US" dirty="0" err="1"/>
              <a:t>an</a:t>
            </a:r>
            <a:r>
              <a:rPr lang="en-US" dirty="0"/>
              <a:t> n-</a:t>
            </a:r>
            <a:r>
              <a:rPr lang="en-US" dirty="0" err="1"/>
              <a:t>ary</a:t>
            </a:r>
            <a:r>
              <a:rPr lang="en-US" dirty="0"/>
              <a:t> relationship. </a:t>
            </a:r>
          </a:p>
          <a:p>
            <a:endParaRPr lang="en-US" dirty="0"/>
          </a:p>
          <a:p>
            <a:r>
              <a:rPr lang="en-US" sz="1800" b="1" dirty="0">
                <a:latin typeface="Times New Roman" panose="02020603050405020304" pitchFamily="18" charset="0"/>
                <a:cs typeface="Times New Roman" panose="02020603050405020304" pitchFamily="18" charset="0"/>
              </a:rPr>
              <a:t>Cardinality: </a:t>
            </a:r>
          </a:p>
          <a:p>
            <a:pPr lvl="1"/>
            <a:r>
              <a:rPr lang="en-US" sz="1600" dirty="0">
                <a:latin typeface="Times New Roman" panose="02020603050405020304" pitchFamily="18" charset="0"/>
                <a:cs typeface="Times New Roman" panose="02020603050405020304" pitchFamily="18" charset="0"/>
              </a:rPr>
              <a:t>The number of times an entity of an entity set participates in a relationship set is known as cardinality. Cardinality can be of different types: </a:t>
            </a:r>
            <a:endParaRPr lang="en-US" dirty="0"/>
          </a:p>
          <a:p>
            <a:endParaRPr lang="en-US" dirty="0"/>
          </a:p>
        </p:txBody>
      </p:sp>
      <p:pic>
        <p:nvPicPr>
          <p:cNvPr id="7170" name="Picture 2" descr="er11">
            <a:extLst>
              <a:ext uri="{FF2B5EF4-FFF2-40B4-BE49-F238E27FC236}">
                <a16:creationId xmlns:a16="http://schemas.microsoft.com/office/drawing/2014/main" id="{EDACB9E6-7662-F6E3-69CA-560C982E4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657475"/>
            <a:ext cx="8305800" cy="1457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885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Mapping Cardinality Constraints</a:t>
            </a:r>
          </a:p>
        </p:txBody>
      </p:sp>
      <p:sp>
        <p:nvSpPr>
          <p:cNvPr id="24579" name="Rectangle 3"/>
          <p:cNvSpPr>
            <a:spLocks noGrp="1" noChangeArrowheads="1"/>
          </p:cNvSpPr>
          <p:nvPr>
            <p:ph type="body" idx="1"/>
          </p:nvPr>
        </p:nvSpPr>
        <p:spPr>
          <a:xfrm>
            <a:off x="819150" y="1676400"/>
            <a:ext cx="7505700" cy="4114800"/>
          </a:xfrm>
        </p:spPr>
        <p:txBody>
          <a:bodyPr>
            <a:normAutofit/>
          </a:bodyPr>
          <a:lstStyle/>
          <a:p>
            <a:pPr algn="just"/>
            <a:r>
              <a:rPr lang="en-US" sz="2400" dirty="0">
                <a:latin typeface="Times New Roman" panose="02020603050405020304" pitchFamily="18" charset="0"/>
                <a:cs typeface="Times New Roman" panose="02020603050405020304" pitchFamily="18" charset="0"/>
              </a:rPr>
              <a:t>Express the number of entities to which another entity can be associated via a relationship set.</a:t>
            </a:r>
          </a:p>
          <a:p>
            <a:pPr algn="just"/>
            <a:r>
              <a:rPr lang="en-US" sz="2400" dirty="0">
                <a:latin typeface="Times New Roman" pitchFamily="18" charset="0"/>
                <a:cs typeface="Times New Roman" pitchFamily="18" charset="0"/>
              </a:rPr>
              <a:t>Most useful in describing binary relationship sets.</a:t>
            </a:r>
          </a:p>
          <a:p>
            <a:pPr algn="just"/>
            <a:r>
              <a:rPr lang="en-US" sz="2400" dirty="0">
                <a:latin typeface="Times New Roman" pitchFamily="18" charset="0"/>
                <a:cs typeface="Times New Roman" pitchFamily="18" charset="0"/>
              </a:rPr>
              <a:t>For a binary relationship set the mapping cardinality must be one of the following types:</a:t>
            </a:r>
          </a:p>
          <a:p>
            <a:pPr lvl="1" algn="just"/>
            <a:r>
              <a:rPr lang="en-US" sz="2400" dirty="0">
                <a:latin typeface="Times New Roman" pitchFamily="18" charset="0"/>
                <a:cs typeface="Times New Roman" pitchFamily="18" charset="0"/>
              </a:rPr>
              <a:t>One to one</a:t>
            </a:r>
          </a:p>
          <a:p>
            <a:pPr lvl="1" algn="just"/>
            <a:r>
              <a:rPr lang="en-US" sz="2400" dirty="0">
                <a:latin typeface="Times New Roman" pitchFamily="18" charset="0"/>
                <a:cs typeface="Times New Roman" pitchFamily="18" charset="0"/>
              </a:rPr>
              <a:t>One to many</a:t>
            </a:r>
          </a:p>
          <a:p>
            <a:pPr lvl="1" algn="just"/>
            <a:r>
              <a:rPr lang="en-US" sz="2400" dirty="0">
                <a:latin typeface="Times New Roman" pitchFamily="18" charset="0"/>
                <a:cs typeface="Times New Roman" pitchFamily="18" charset="0"/>
              </a:rPr>
              <a:t>Many to one</a:t>
            </a:r>
          </a:p>
          <a:p>
            <a:pPr lvl="1" algn="just"/>
            <a:r>
              <a:rPr lang="en-US" sz="2400" dirty="0">
                <a:latin typeface="Times New Roman" pitchFamily="18" charset="0"/>
                <a:cs typeface="Times New Roman" pitchFamily="18" charset="0"/>
              </a:rPr>
              <a:t>Many to many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5254E-0CBA-3E5C-6A27-B3A5B5AA92C3}"/>
              </a:ext>
            </a:extLst>
          </p:cNvPr>
          <p:cNvSpPr>
            <a:spLocks noGrp="1"/>
          </p:cNvSpPr>
          <p:nvPr>
            <p:ph type="title"/>
          </p:nvPr>
        </p:nvSpPr>
        <p:spPr/>
        <p:txBody>
          <a:bodyPr/>
          <a:lstStyle/>
          <a:p>
            <a:r>
              <a:rPr lang="en-US" dirty="0"/>
              <a:t>Type of Relationship</a:t>
            </a:r>
          </a:p>
        </p:txBody>
      </p:sp>
      <p:sp>
        <p:nvSpPr>
          <p:cNvPr id="4" name="Rectangle 3">
            <a:extLst>
              <a:ext uri="{FF2B5EF4-FFF2-40B4-BE49-F238E27FC236}">
                <a16:creationId xmlns:a16="http://schemas.microsoft.com/office/drawing/2014/main" id="{C18B4422-F2B3-BFC6-E785-509626264392}"/>
              </a:ext>
            </a:extLst>
          </p:cNvPr>
          <p:cNvSpPr>
            <a:spLocks noChangeArrowheads="1"/>
          </p:cNvSpPr>
          <p:nvPr/>
        </p:nvSpPr>
        <p:spPr bwMode="auto">
          <a:xfrm>
            <a:off x="457200" y="1481078"/>
            <a:ext cx="8542421"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a. One-to-One Relationship</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inter-regular"/>
              </a:rPr>
              <a:t>When only one instance of an entity is associated with the relationship, then it is known as one to one relationship.</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For example,</a:t>
            </a:r>
            <a:r>
              <a:rPr kumimoji="0" lang="en-US" altLang="en-US" sz="2000" b="0" i="0" u="none" strike="noStrike" cap="none" normalizeH="0" baseline="0" dirty="0">
                <a:ln>
                  <a:noFill/>
                </a:ln>
                <a:solidFill>
                  <a:srgbClr val="333333"/>
                </a:solidFill>
                <a:effectLst/>
                <a:latin typeface="inter-regular"/>
              </a:rPr>
              <a:t> A female can marry to one male, and a male can marry to one female.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a:ln>
                  <a:noFill/>
                </a:ln>
                <a:solidFill>
                  <a:schemeClr val="tx1"/>
                </a:solidFill>
                <a:effectLst/>
                <a:latin typeface="Arial" panose="020B0604020202020204" pitchFamily="34" charset="0"/>
              </a:rPr>
              <a:t> </a:t>
            </a:r>
          </a:p>
        </p:txBody>
      </p:sp>
      <p:pic>
        <p:nvPicPr>
          <p:cNvPr id="8196" name="Picture 4" descr="DBMS ER model concept">
            <a:extLst>
              <a:ext uri="{FF2B5EF4-FFF2-40B4-BE49-F238E27FC236}">
                <a16:creationId xmlns:a16="http://schemas.microsoft.com/office/drawing/2014/main" id="{95CF8B03-E29D-A923-B9A9-49CCE3C761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908228"/>
            <a:ext cx="5400675" cy="9048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9D2265C-44FF-6A38-4AA3-8045E88E1FE8}"/>
              </a:ext>
            </a:extLst>
          </p:cNvPr>
          <p:cNvSpPr txBox="1"/>
          <p:nvPr/>
        </p:nvSpPr>
        <p:spPr>
          <a:xfrm>
            <a:off x="457200" y="4036874"/>
            <a:ext cx="8229600" cy="1754326"/>
          </a:xfrm>
          <a:prstGeom prst="rect">
            <a:avLst/>
          </a:prstGeom>
          <a:noFill/>
        </p:spPr>
        <p:txBody>
          <a:bodyPr wrap="square">
            <a:spAutoFit/>
          </a:bodyPr>
          <a:lstStyle/>
          <a:p>
            <a:pPr algn="just"/>
            <a:r>
              <a:rPr lang="en-US" b="1" i="0" dirty="0">
                <a:solidFill>
                  <a:srgbClr val="333333"/>
                </a:solidFill>
                <a:effectLst/>
                <a:latin typeface="inter-bold"/>
              </a:rPr>
              <a:t>b. One-to-many relationship</a:t>
            </a:r>
            <a:endParaRPr lang="en-US" b="0" i="0" dirty="0">
              <a:solidFill>
                <a:srgbClr val="333333"/>
              </a:solidFill>
              <a:effectLst/>
              <a:latin typeface="inter-regular"/>
            </a:endParaRPr>
          </a:p>
          <a:p>
            <a:pPr algn="just"/>
            <a:r>
              <a:rPr lang="en-US" b="0" i="0" dirty="0">
                <a:solidFill>
                  <a:srgbClr val="333333"/>
                </a:solidFill>
                <a:effectLst/>
                <a:latin typeface="inter-regular"/>
              </a:rPr>
              <a:t>When only one instance of the entity on the left, and more than one instance of an entity on the right associates with the relationship then this is known as a one-to-many relationship.</a:t>
            </a:r>
          </a:p>
          <a:p>
            <a:pPr algn="just"/>
            <a:r>
              <a:rPr lang="en-US" b="1" i="0" dirty="0">
                <a:solidFill>
                  <a:srgbClr val="333333"/>
                </a:solidFill>
                <a:effectLst/>
                <a:latin typeface="inter-bold"/>
              </a:rPr>
              <a:t>For example,</a:t>
            </a:r>
            <a:r>
              <a:rPr lang="en-US" b="0" i="0" dirty="0">
                <a:solidFill>
                  <a:srgbClr val="333333"/>
                </a:solidFill>
                <a:effectLst/>
                <a:latin typeface="inter-regular"/>
              </a:rPr>
              <a:t> Scientist can invent many inventions, but the invention is done by the only specific scientist.</a:t>
            </a:r>
          </a:p>
        </p:txBody>
      </p:sp>
      <p:pic>
        <p:nvPicPr>
          <p:cNvPr id="8198" name="Picture 6" descr="DBMS ER model concept">
            <a:extLst>
              <a:ext uri="{FF2B5EF4-FFF2-40B4-BE49-F238E27FC236}">
                <a16:creationId xmlns:a16="http://schemas.microsoft.com/office/drawing/2014/main" id="{0FCB0B4B-031D-EBC1-3082-E08FA789B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2" y="5701732"/>
            <a:ext cx="5400675" cy="90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552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96C4-58B7-4DFC-E370-23C96EF36802}"/>
              </a:ext>
            </a:extLst>
          </p:cNvPr>
          <p:cNvSpPr>
            <a:spLocks noGrp="1"/>
          </p:cNvSpPr>
          <p:nvPr>
            <p:ph type="title"/>
          </p:nvPr>
        </p:nvSpPr>
        <p:spPr>
          <a:xfrm>
            <a:off x="457200" y="76200"/>
            <a:ext cx="8229600" cy="1143000"/>
          </a:xfrm>
        </p:spPr>
        <p:txBody>
          <a:bodyPr/>
          <a:lstStyle/>
          <a:p>
            <a:r>
              <a:rPr lang="en-US" dirty="0"/>
              <a:t>Type of Relationship cont..</a:t>
            </a:r>
          </a:p>
        </p:txBody>
      </p:sp>
      <p:sp>
        <p:nvSpPr>
          <p:cNvPr id="6" name="TextBox 5">
            <a:extLst>
              <a:ext uri="{FF2B5EF4-FFF2-40B4-BE49-F238E27FC236}">
                <a16:creationId xmlns:a16="http://schemas.microsoft.com/office/drawing/2014/main" id="{6A6922BE-C742-C4E8-0E63-C00CAC16BC59}"/>
              </a:ext>
            </a:extLst>
          </p:cNvPr>
          <p:cNvSpPr txBox="1"/>
          <p:nvPr/>
        </p:nvSpPr>
        <p:spPr>
          <a:xfrm>
            <a:off x="457200" y="1143000"/>
            <a:ext cx="8305800" cy="5632311"/>
          </a:xfrm>
          <a:prstGeom prst="rect">
            <a:avLst/>
          </a:prstGeom>
          <a:noFill/>
        </p:spPr>
        <p:txBody>
          <a:bodyPr wrap="square">
            <a:spAutoFit/>
          </a:bodyPr>
          <a:lstStyle/>
          <a:p>
            <a:pPr algn="just"/>
            <a:r>
              <a:rPr lang="en-US" b="1" i="0" dirty="0">
                <a:solidFill>
                  <a:srgbClr val="333333"/>
                </a:solidFill>
                <a:effectLst/>
                <a:latin typeface="inter-bold"/>
              </a:rPr>
              <a:t>c. Many-to-one relationship</a:t>
            </a:r>
            <a:endParaRPr lang="en-US" b="0" i="0" dirty="0">
              <a:solidFill>
                <a:srgbClr val="333333"/>
              </a:solidFill>
              <a:effectLst/>
              <a:latin typeface="inter-regular"/>
            </a:endParaRPr>
          </a:p>
          <a:p>
            <a:pPr algn="just"/>
            <a:r>
              <a:rPr lang="en-US" b="0" i="0" dirty="0">
                <a:solidFill>
                  <a:srgbClr val="333333"/>
                </a:solidFill>
                <a:effectLst/>
                <a:latin typeface="inter-regular"/>
              </a:rPr>
              <a:t>When more than one instance of the entity on the left, and only one instance of an entity on the right associates with the relationship then it is known as a many-to-one relationship.</a:t>
            </a:r>
          </a:p>
          <a:p>
            <a:pPr algn="just"/>
            <a:r>
              <a:rPr lang="en-US" b="1" i="0" dirty="0">
                <a:solidFill>
                  <a:srgbClr val="333333"/>
                </a:solidFill>
                <a:effectLst/>
                <a:latin typeface="inter-bold"/>
              </a:rPr>
              <a:t>For example,</a:t>
            </a:r>
            <a:r>
              <a:rPr lang="en-US" b="0" i="0" dirty="0">
                <a:solidFill>
                  <a:srgbClr val="333333"/>
                </a:solidFill>
                <a:effectLst/>
                <a:latin typeface="inter-regular"/>
              </a:rPr>
              <a:t> Student enrolls for only one course, but a course can have many students.</a:t>
            </a:r>
          </a:p>
          <a:p>
            <a:br>
              <a:rPr lang="en-US" dirty="0"/>
            </a:br>
            <a:endParaRPr lang="en-US" dirty="0"/>
          </a:p>
          <a:p>
            <a:pPr algn="ctr"/>
            <a:br>
              <a:rPr lang="en-US" dirty="0"/>
            </a:br>
            <a:r>
              <a:rPr lang="en-US" dirty="0"/>
              <a:t>Fig: Many to one</a:t>
            </a:r>
          </a:p>
          <a:p>
            <a:r>
              <a:rPr lang="en-US" b="1" i="0" dirty="0">
                <a:solidFill>
                  <a:srgbClr val="333333"/>
                </a:solidFill>
                <a:effectLst/>
                <a:latin typeface="inter-bold"/>
              </a:rPr>
              <a:t>d. Many-to-many relationship</a:t>
            </a:r>
          </a:p>
          <a:p>
            <a:pPr algn="just"/>
            <a:r>
              <a:rPr lang="en-US" b="0" i="0" dirty="0">
                <a:solidFill>
                  <a:srgbClr val="333333"/>
                </a:solidFill>
                <a:effectLst/>
                <a:latin typeface="inter-regular"/>
              </a:rPr>
              <a:t>When more than one instance of the entity on the left, and more than one instance of an entity on the right associates with the relationship then it is known as a many-to-many relationship.</a:t>
            </a:r>
          </a:p>
          <a:p>
            <a:pPr algn="just"/>
            <a:r>
              <a:rPr lang="en-US" b="1" i="0" dirty="0">
                <a:solidFill>
                  <a:srgbClr val="333333"/>
                </a:solidFill>
                <a:effectLst/>
                <a:latin typeface="inter-bold"/>
              </a:rPr>
              <a:t>For example,</a:t>
            </a:r>
            <a:r>
              <a:rPr lang="en-US" b="0" i="0" dirty="0">
                <a:solidFill>
                  <a:srgbClr val="333333"/>
                </a:solidFill>
                <a:effectLst/>
                <a:latin typeface="inter-regular"/>
              </a:rPr>
              <a:t> Employee can assign by many projects and project can have many employees.</a:t>
            </a:r>
          </a:p>
          <a:p>
            <a:pPr algn="just"/>
            <a:endParaRPr lang="en-US" dirty="0">
              <a:solidFill>
                <a:srgbClr val="333333"/>
              </a:solidFill>
              <a:latin typeface="inter-regular"/>
            </a:endParaRPr>
          </a:p>
          <a:p>
            <a:pPr algn="just"/>
            <a:endParaRPr lang="en-US" b="0" i="0" dirty="0">
              <a:solidFill>
                <a:srgbClr val="333333"/>
              </a:solidFill>
              <a:effectLst/>
              <a:latin typeface="inter-regular"/>
            </a:endParaRPr>
          </a:p>
          <a:p>
            <a:pPr algn="ctr"/>
            <a:br>
              <a:rPr lang="en-US" dirty="0"/>
            </a:br>
            <a:r>
              <a:rPr lang="en-US" dirty="0"/>
              <a:t>Fig: Many to Many</a:t>
            </a:r>
          </a:p>
        </p:txBody>
      </p:sp>
      <p:pic>
        <p:nvPicPr>
          <p:cNvPr id="9220" name="Picture 4" descr="DBMS ER model concept">
            <a:extLst>
              <a:ext uri="{FF2B5EF4-FFF2-40B4-BE49-F238E27FC236}">
                <a16:creationId xmlns:a16="http://schemas.microsoft.com/office/drawing/2014/main" id="{345FAADE-0E1C-F661-B64E-B225D2CD8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819400"/>
            <a:ext cx="5400675" cy="904875"/>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descr="DBMS ER model concept">
            <a:extLst>
              <a:ext uri="{FF2B5EF4-FFF2-40B4-BE49-F238E27FC236}">
                <a16:creationId xmlns:a16="http://schemas.microsoft.com/office/drawing/2014/main" id="{CDAC6D2F-0149-8524-411D-16453987B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399" y="5495925"/>
            <a:ext cx="5400675" cy="90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03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Mapping Cardinalities</a:t>
            </a:r>
          </a:p>
        </p:txBody>
      </p:sp>
      <p:sp>
        <p:nvSpPr>
          <p:cNvPr id="25603" name="Text Box 4"/>
          <p:cNvSpPr txBox="1">
            <a:spLocks noChangeArrowheads="1"/>
          </p:cNvSpPr>
          <p:nvPr/>
        </p:nvSpPr>
        <p:spPr bwMode="auto">
          <a:xfrm>
            <a:off x="1895475" y="5283200"/>
            <a:ext cx="1416050" cy="366713"/>
          </a:xfrm>
          <a:prstGeom prst="rect">
            <a:avLst/>
          </a:prstGeom>
          <a:noFill/>
          <a:ln w="9525">
            <a:noFill/>
            <a:miter lim="800000"/>
            <a:headEnd/>
            <a:tailEnd/>
          </a:ln>
        </p:spPr>
        <p:txBody>
          <a:bodyPr>
            <a:spAutoFit/>
          </a:bodyPr>
          <a:lstStyle/>
          <a:p>
            <a:pPr algn="ctr">
              <a:spcBef>
                <a:spcPct val="50000"/>
              </a:spcBef>
            </a:pPr>
            <a:r>
              <a:rPr lang="en-US" sz="1800"/>
              <a:t>One to one</a:t>
            </a:r>
          </a:p>
        </p:txBody>
      </p:sp>
      <p:sp>
        <p:nvSpPr>
          <p:cNvPr id="25604" name="Text Box 5"/>
          <p:cNvSpPr txBox="1">
            <a:spLocks noChangeArrowheads="1"/>
          </p:cNvSpPr>
          <p:nvPr/>
        </p:nvSpPr>
        <p:spPr bwMode="auto">
          <a:xfrm>
            <a:off x="5665788" y="5283200"/>
            <a:ext cx="1492250" cy="366713"/>
          </a:xfrm>
          <a:prstGeom prst="rect">
            <a:avLst/>
          </a:prstGeom>
          <a:noFill/>
          <a:ln w="9525">
            <a:noFill/>
            <a:miter lim="800000"/>
            <a:headEnd/>
            <a:tailEnd/>
          </a:ln>
        </p:spPr>
        <p:txBody>
          <a:bodyPr wrap="none">
            <a:spAutoFit/>
          </a:bodyPr>
          <a:lstStyle/>
          <a:p>
            <a:pPr algn="ctr">
              <a:spcBef>
                <a:spcPct val="50000"/>
              </a:spcBef>
            </a:pPr>
            <a:r>
              <a:rPr lang="en-US" sz="1800"/>
              <a:t>One to many</a:t>
            </a:r>
          </a:p>
        </p:txBody>
      </p:sp>
      <p:sp>
        <p:nvSpPr>
          <p:cNvPr id="25605" name="Text Box 6"/>
          <p:cNvSpPr txBox="1">
            <a:spLocks noChangeArrowheads="1"/>
          </p:cNvSpPr>
          <p:nvPr/>
        </p:nvSpPr>
        <p:spPr bwMode="auto">
          <a:xfrm>
            <a:off x="1523999" y="5626100"/>
            <a:ext cx="6477001" cy="707886"/>
          </a:xfrm>
          <a:prstGeom prst="rect">
            <a:avLst/>
          </a:prstGeom>
          <a:noFill/>
          <a:ln w="9525">
            <a:noFill/>
            <a:miter lim="800000"/>
            <a:headEnd/>
            <a:tailEnd/>
          </a:ln>
        </p:spPr>
        <p:txBody>
          <a:bodyPr wrap="square">
            <a:spAutoFit/>
          </a:bodyPr>
          <a:lstStyle/>
          <a:p>
            <a:pPr algn="ctr"/>
            <a:r>
              <a:rPr kumimoji="1" lang="en-US" sz="2000" dirty="0">
                <a:latin typeface="Times New Roman" pitchFamily="18" charset="0"/>
                <a:cs typeface="Times New Roman" pitchFamily="18" charset="0"/>
              </a:rPr>
              <a:t>Note: Some elements in </a:t>
            </a:r>
            <a:r>
              <a:rPr kumimoji="1" lang="en-US" sz="2000" i="1" dirty="0">
                <a:latin typeface="Times New Roman" pitchFamily="18" charset="0"/>
                <a:cs typeface="Times New Roman" pitchFamily="18" charset="0"/>
              </a:rPr>
              <a:t>A</a:t>
            </a:r>
            <a:r>
              <a:rPr kumimoji="1" lang="en-US" sz="2000" dirty="0">
                <a:latin typeface="Times New Roman" pitchFamily="18" charset="0"/>
                <a:cs typeface="Times New Roman" pitchFamily="18" charset="0"/>
              </a:rPr>
              <a:t> and </a:t>
            </a:r>
            <a:r>
              <a:rPr kumimoji="1" lang="en-US" sz="2000" i="1" dirty="0">
                <a:latin typeface="Times New Roman" pitchFamily="18" charset="0"/>
                <a:cs typeface="Times New Roman" pitchFamily="18" charset="0"/>
              </a:rPr>
              <a:t>B</a:t>
            </a:r>
            <a:r>
              <a:rPr kumimoji="1" lang="en-US" sz="2000" dirty="0">
                <a:latin typeface="Times New Roman" pitchFamily="18" charset="0"/>
                <a:cs typeface="Times New Roman" pitchFamily="18" charset="0"/>
              </a:rPr>
              <a:t> may not be mapped to any  elements in the other set</a:t>
            </a:r>
          </a:p>
        </p:txBody>
      </p:sp>
      <p:pic>
        <p:nvPicPr>
          <p:cNvPr id="25606" name="Picture 7"/>
          <p:cNvPicPr>
            <a:picLocks noChangeAspect="1" noChangeArrowheads="1"/>
          </p:cNvPicPr>
          <p:nvPr/>
        </p:nvPicPr>
        <p:blipFill>
          <a:blip r:embed="rId2"/>
          <a:srcRect l="624" t="9708" r="417" b="9708"/>
          <a:stretch>
            <a:fillRect/>
          </a:stretch>
        </p:blipFill>
        <p:spPr bwMode="auto">
          <a:xfrm>
            <a:off x="1363663" y="1524000"/>
            <a:ext cx="6796087" cy="3548063"/>
          </a:xfrm>
          <a:prstGeom prst="rect">
            <a:avLst/>
          </a:prstGeom>
          <a:noFill/>
          <a:ln w="38100" cmpd="dbl">
            <a:solidFill>
              <a:schemeClr val="tx2"/>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Mapping Cardinalities </a:t>
            </a:r>
          </a:p>
        </p:txBody>
      </p:sp>
      <p:sp>
        <p:nvSpPr>
          <p:cNvPr id="26627" name="Text Box 4"/>
          <p:cNvSpPr txBox="1">
            <a:spLocks noChangeArrowheads="1"/>
          </p:cNvSpPr>
          <p:nvPr/>
        </p:nvSpPr>
        <p:spPr bwMode="auto">
          <a:xfrm>
            <a:off x="1992313" y="5321300"/>
            <a:ext cx="1436687" cy="366713"/>
          </a:xfrm>
          <a:prstGeom prst="rect">
            <a:avLst/>
          </a:prstGeom>
          <a:noFill/>
          <a:ln w="9525">
            <a:noFill/>
            <a:miter lim="800000"/>
            <a:headEnd/>
            <a:tailEnd/>
          </a:ln>
        </p:spPr>
        <p:txBody>
          <a:bodyPr wrap="none">
            <a:spAutoFit/>
          </a:bodyPr>
          <a:lstStyle/>
          <a:p>
            <a:pPr algn="ctr">
              <a:spcBef>
                <a:spcPct val="50000"/>
              </a:spcBef>
            </a:pPr>
            <a:r>
              <a:rPr lang="en-US" sz="1800"/>
              <a:t>Many to one</a:t>
            </a:r>
          </a:p>
        </p:txBody>
      </p:sp>
      <p:sp>
        <p:nvSpPr>
          <p:cNvPr id="26628" name="Text Box 5"/>
          <p:cNvSpPr txBox="1">
            <a:spLocks noChangeArrowheads="1"/>
          </p:cNvSpPr>
          <p:nvPr/>
        </p:nvSpPr>
        <p:spPr bwMode="auto">
          <a:xfrm>
            <a:off x="5589588" y="5321300"/>
            <a:ext cx="1609725" cy="366713"/>
          </a:xfrm>
          <a:prstGeom prst="rect">
            <a:avLst/>
          </a:prstGeom>
          <a:noFill/>
          <a:ln w="9525">
            <a:noFill/>
            <a:miter lim="800000"/>
            <a:headEnd/>
            <a:tailEnd/>
          </a:ln>
        </p:spPr>
        <p:txBody>
          <a:bodyPr wrap="none">
            <a:spAutoFit/>
          </a:bodyPr>
          <a:lstStyle/>
          <a:p>
            <a:pPr algn="ctr">
              <a:spcBef>
                <a:spcPct val="50000"/>
              </a:spcBef>
            </a:pPr>
            <a:r>
              <a:rPr lang="en-US" sz="1800"/>
              <a:t>Many to many</a:t>
            </a:r>
          </a:p>
        </p:txBody>
      </p:sp>
      <p:sp>
        <p:nvSpPr>
          <p:cNvPr id="26629" name="Text Box 7"/>
          <p:cNvSpPr txBox="1">
            <a:spLocks noChangeArrowheads="1"/>
          </p:cNvSpPr>
          <p:nvPr/>
        </p:nvSpPr>
        <p:spPr bwMode="auto">
          <a:xfrm>
            <a:off x="1177925" y="5702300"/>
            <a:ext cx="5756832" cy="646331"/>
          </a:xfrm>
          <a:prstGeom prst="rect">
            <a:avLst/>
          </a:prstGeom>
          <a:noFill/>
          <a:ln w="9525">
            <a:noFill/>
            <a:miter lim="800000"/>
            <a:headEnd/>
            <a:tailEnd/>
          </a:ln>
        </p:spPr>
        <p:txBody>
          <a:bodyPr wrap="none">
            <a:spAutoFit/>
          </a:bodyPr>
          <a:lstStyle/>
          <a:p>
            <a:r>
              <a:rPr kumimoji="1" lang="en-US" dirty="0">
                <a:latin typeface="Times New Roman" pitchFamily="18" charset="0"/>
                <a:cs typeface="Times New Roman" pitchFamily="18" charset="0"/>
              </a:rPr>
              <a:t>Note: Some elements in A and B may not be mapped to any </a:t>
            </a:r>
          </a:p>
          <a:p>
            <a:r>
              <a:rPr kumimoji="1" lang="en-US" dirty="0">
                <a:latin typeface="Times New Roman" pitchFamily="18" charset="0"/>
                <a:cs typeface="Times New Roman" pitchFamily="18" charset="0"/>
              </a:rPr>
              <a:t>elements in the other set</a:t>
            </a:r>
          </a:p>
        </p:txBody>
      </p:sp>
      <p:pic>
        <p:nvPicPr>
          <p:cNvPr id="26630" name="Picture 8"/>
          <p:cNvPicPr>
            <a:picLocks noChangeAspect="1" noChangeArrowheads="1"/>
          </p:cNvPicPr>
          <p:nvPr/>
        </p:nvPicPr>
        <p:blipFill>
          <a:blip r:embed="rId2"/>
          <a:srcRect l="581" t="9547" r="388" b="9805"/>
          <a:stretch>
            <a:fillRect/>
          </a:stretch>
        </p:blipFill>
        <p:spPr bwMode="auto">
          <a:xfrm>
            <a:off x="1346200" y="1371599"/>
            <a:ext cx="6816725" cy="3762375"/>
          </a:xfrm>
          <a:prstGeom prst="rect">
            <a:avLst/>
          </a:prstGeom>
          <a:noFill/>
          <a:ln w="38100" cmpd="dbl">
            <a:solidFill>
              <a:schemeClr val="tx2"/>
            </a:solid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Keys</a:t>
            </a:r>
          </a:p>
        </p:txBody>
      </p:sp>
      <p:sp>
        <p:nvSpPr>
          <p:cNvPr id="27651" name="Rectangle 3"/>
          <p:cNvSpPr>
            <a:spLocks noGrp="1" noChangeArrowheads="1"/>
          </p:cNvSpPr>
          <p:nvPr>
            <p:ph type="body" idx="1"/>
          </p:nvPr>
        </p:nvSpPr>
        <p:spPr>
          <a:xfrm>
            <a:off x="855662" y="1222374"/>
            <a:ext cx="7831138" cy="5102225"/>
          </a:xfrm>
        </p:spPr>
        <p:txBody>
          <a:bodyPr/>
          <a:lstStyle/>
          <a:p>
            <a:pPr algn="just"/>
            <a:r>
              <a:rPr lang="en-US" sz="1800" dirty="0">
                <a:latin typeface="Times New Roman" pitchFamily="18" charset="0"/>
                <a:cs typeface="Times New Roman" pitchFamily="18" charset="0"/>
              </a:rPr>
              <a:t>A </a:t>
            </a:r>
            <a:r>
              <a:rPr lang="en-US" sz="1800" b="1" dirty="0">
                <a:solidFill>
                  <a:schemeClr val="tx2"/>
                </a:solidFill>
                <a:latin typeface="Times New Roman" pitchFamily="18" charset="0"/>
                <a:cs typeface="Times New Roman" pitchFamily="18" charset="0"/>
              </a:rPr>
              <a:t>super key</a:t>
            </a:r>
            <a:r>
              <a:rPr lang="en-US" sz="1800" dirty="0">
                <a:latin typeface="Times New Roman" pitchFamily="18" charset="0"/>
                <a:cs typeface="Times New Roman" pitchFamily="18" charset="0"/>
              </a:rPr>
              <a:t> of an entity set is a set of one or more attributes whose values uniquely determine each entity. </a:t>
            </a:r>
          </a:p>
          <a:p>
            <a:pPr algn="just">
              <a:buNone/>
            </a:pPr>
            <a:r>
              <a:rPr lang="en-US" sz="1800" i="1" dirty="0">
                <a:latin typeface="Times New Roman" pitchFamily="18" charset="0"/>
                <a:cs typeface="Times New Roman" pitchFamily="18" charset="0"/>
              </a:rPr>
              <a:t>	{ customer_id } , { customer_id , customer_name } ,</a:t>
            </a:r>
          </a:p>
          <a:p>
            <a:pPr algn="just">
              <a:buNone/>
            </a:pPr>
            <a:r>
              <a:rPr lang="en-US" sz="1800" i="1" dirty="0">
                <a:latin typeface="Times New Roman" pitchFamily="18" charset="0"/>
                <a:cs typeface="Times New Roman" pitchFamily="18" charset="0"/>
              </a:rPr>
              <a:t>	 {customer_name, customer_street}</a:t>
            </a:r>
          </a:p>
          <a:p>
            <a:pPr algn="just">
              <a:buNone/>
            </a:pPr>
            <a:endParaRPr lang="en-US" sz="1800" i="1"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A </a:t>
            </a:r>
            <a:r>
              <a:rPr lang="en-US" sz="1800" b="1" dirty="0">
                <a:solidFill>
                  <a:schemeClr val="tx2"/>
                </a:solidFill>
                <a:latin typeface="Times New Roman" pitchFamily="18" charset="0"/>
                <a:cs typeface="Times New Roman" pitchFamily="18" charset="0"/>
              </a:rPr>
              <a:t>candidate key</a:t>
            </a:r>
            <a:r>
              <a:rPr lang="en-US" sz="1800" dirty="0">
                <a:latin typeface="Times New Roman" pitchFamily="18" charset="0"/>
                <a:cs typeface="Times New Roman" pitchFamily="18" charset="0"/>
              </a:rPr>
              <a:t> of an entity set is a minimal super key. [ No proper subset of a </a:t>
            </a:r>
            <a:r>
              <a:rPr lang="en-US" sz="1800" b="1" dirty="0">
                <a:solidFill>
                  <a:schemeClr val="tx2"/>
                </a:solidFill>
                <a:latin typeface="Times New Roman" pitchFamily="18" charset="0"/>
                <a:cs typeface="Times New Roman" pitchFamily="18" charset="0"/>
              </a:rPr>
              <a:t>candidate key</a:t>
            </a:r>
            <a:r>
              <a:rPr lang="en-US" sz="1800" dirty="0">
                <a:latin typeface="Times New Roman" pitchFamily="18" charset="0"/>
                <a:cs typeface="Times New Roman" pitchFamily="18" charset="0"/>
              </a:rPr>
              <a:t>  is a super key]</a:t>
            </a:r>
          </a:p>
          <a:p>
            <a:pPr algn="just">
              <a:buNone/>
            </a:pPr>
            <a:r>
              <a:rPr lang="en-US" sz="1800" i="1" dirty="0">
                <a:latin typeface="Times New Roman" pitchFamily="18" charset="0"/>
                <a:cs typeface="Times New Roman" pitchFamily="18" charset="0"/>
              </a:rPr>
              <a:t>	{ customer_id } </a:t>
            </a:r>
            <a:r>
              <a:rPr lang="en-US" sz="1800" dirty="0">
                <a:latin typeface="Times New Roman" pitchFamily="18" charset="0"/>
                <a:cs typeface="Times New Roman" pitchFamily="18" charset="0"/>
              </a:rPr>
              <a:t>and</a:t>
            </a:r>
            <a:r>
              <a:rPr lang="en-US" sz="1800" i="1" dirty="0">
                <a:latin typeface="Times New Roman" pitchFamily="18" charset="0"/>
                <a:cs typeface="Times New Roman" pitchFamily="18" charset="0"/>
              </a:rPr>
              <a:t> {customer_name, customer_street} </a:t>
            </a:r>
            <a:r>
              <a:rPr lang="en-US" sz="1800" dirty="0">
                <a:latin typeface="Times New Roman" pitchFamily="18" charset="0"/>
                <a:cs typeface="Times New Roman" pitchFamily="18" charset="0"/>
              </a:rPr>
              <a:t>are candidate key but </a:t>
            </a:r>
            <a:r>
              <a:rPr lang="en-US" sz="1800" i="1" dirty="0">
                <a:latin typeface="Times New Roman" pitchFamily="18" charset="0"/>
                <a:cs typeface="Times New Roman" pitchFamily="18" charset="0"/>
              </a:rPr>
              <a:t>{ customer_id , customer_name }</a:t>
            </a:r>
            <a:r>
              <a:rPr lang="en-US" sz="1800" dirty="0">
                <a:latin typeface="Times New Roman" pitchFamily="18" charset="0"/>
                <a:cs typeface="Times New Roman" pitchFamily="18" charset="0"/>
              </a:rPr>
              <a:t> is not a candidate key because </a:t>
            </a:r>
            <a:r>
              <a:rPr lang="en-US" sz="1800" i="1" dirty="0">
                <a:latin typeface="Times New Roman" pitchFamily="18" charset="0"/>
                <a:cs typeface="Times New Roman" pitchFamily="18" charset="0"/>
              </a:rPr>
              <a:t>customer_id </a:t>
            </a:r>
            <a:r>
              <a:rPr lang="en-US" sz="1800" dirty="0">
                <a:latin typeface="Times New Roman" pitchFamily="18" charset="0"/>
                <a:cs typeface="Times New Roman" pitchFamily="18" charset="0"/>
              </a:rPr>
              <a:t> is itself a superkey. </a:t>
            </a:r>
            <a:endParaRPr lang="en-US" sz="1800" i="1" dirty="0">
              <a:latin typeface="Times New Roman" pitchFamily="18" charset="0"/>
              <a:cs typeface="Times New Roman" pitchFamily="18" charset="0"/>
            </a:endParaRPr>
          </a:p>
          <a:p>
            <a:pPr algn="just">
              <a:buNone/>
            </a:pPr>
            <a:endParaRPr lang="en-US" sz="1800" dirty="0">
              <a:latin typeface="Times New Roman" pitchFamily="18" charset="0"/>
              <a:cs typeface="Times New Roman" pitchFamily="18" charset="0"/>
            </a:endParaRPr>
          </a:p>
          <a:p>
            <a:pPr algn="just"/>
            <a:r>
              <a:rPr lang="en-US" sz="1800" b="1" dirty="0">
                <a:solidFill>
                  <a:schemeClr val="tx2"/>
                </a:solidFill>
                <a:latin typeface="Times New Roman" pitchFamily="18" charset="0"/>
                <a:cs typeface="Times New Roman" pitchFamily="18" charset="0"/>
              </a:rPr>
              <a:t>Primary key </a:t>
            </a:r>
            <a:r>
              <a:rPr lang="en-US" sz="1800" dirty="0">
                <a:latin typeface="Times New Roman" pitchFamily="18" charset="0"/>
                <a:cs typeface="Times New Roman" pitchFamily="18" charset="0"/>
              </a:rPr>
              <a:t>is selected from one of the candidate keys by the database designer as the principal means of identifying entities within an entity set.</a:t>
            </a:r>
          </a:p>
          <a:p>
            <a:pPr algn="just"/>
            <a:endParaRPr lang="en-US" sz="1800" dirty="0">
              <a:latin typeface="Times New Roman" pitchFamily="18" charset="0"/>
              <a:cs typeface="Times New Roman" pitchFamily="18" charset="0"/>
            </a:endParaRPr>
          </a:p>
          <a:p>
            <a:pPr algn="just"/>
            <a:r>
              <a:rPr lang="en-US" sz="1800" b="1" dirty="0">
                <a:solidFill>
                  <a:schemeClr val="tx2"/>
                </a:solidFill>
                <a:latin typeface="Times New Roman" pitchFamily="18" charset="0"/>
                <a:cs typeface="Times New Roman" pitchFamily="18" charset="0"/>
              </a:rPr>
              <a:t>Foreign key</a:t>
            </a:r>
            <a:r>
              <a:rPr lang="en-US" sz="1800" b="1">
                <a:solidFill>
                  <a:schemeClr val="tx2"/>
                </a:solidFill>
                <a:latin typeface="Times New Roman" pitchFamily="18" charset="0"/>
                <a:cs typeface="Times New Roman" pitchFamily="18" charset="0"/>
              </a:rPr>
              <a:t>: </a:t>
            </a:r>
            <a:r>
              <a:rPr lang="en-US" sz="1800">
                <a:latin typeface="Times New Roman" pitchFamily="18" charset="0"/>
                <a:cs typeface="Times New Roman" pitchFamily="18" charset="0"/>
              </a:rPr>
              <a:t>is </a:t>
            </a:r>
            <a:r>
              <a:rPr lang="en-US" sz="1800" dirty="0">
                <a:latin typeface="Times New Roman" pitchFamily="18" charset="0"/>
                <a:cs typeface="Times New Roman" pitchFamily="18" charset="0"/>
              </a:rPr>
              <a:t>a field (or collection of fields) in one table, that refers to the PRIMARY KEY in another table</a:t>
            </a:r>
            <a:r>
              <a:rPr lang="en-US" sz="1800" b="1" dirty="0">
                <a:solidFill>
                  <a:schemeClr val="tx2"/>
                </a:solidFill>
                <a:latin typeface="Times New Roman" pitchFamily="18" charset="0"/>
                <a:cs typeface="Times New Roman" pitchFamily="18" charset="0"/>
              </a:rPr>
              <a:t>. </a:t>
            </a:r>
            <a:endParaRPr lang="en-US" sz="18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Keys for Relationship Sets</a:t>
            </a:r>
          </a:p>
        </p:txBody>
      </p:sp>
      <p:sp>
        <p:nvSpPr>
          <p:cNvPr id="28675" name="Rectangle 3"/>
          <p:cNvSpPr>
            <a:spLocks noGrp="1" noChangeArrowheads="1"/>
          </p:cNvSpPr>
          <p:nvPr>
            <p:ph type="body" idx="1"/>
          </p:nvPr>
        </p:nvSpPr>
        <p:spPr>
          <a:xfrm>
            <a:off x="855663" y="1222375"/>
            <a:ext cx="7848600" cy="4876800"/>
          </a:xfrm>
        </p:spPr>
        <p:txBody>
          <a:bodyPr/>
          <a:lstStyle/>
          <a:p>
            <a:pPr algn="just"/>
            <a:r>
              <a:rPr lang="en-US" sz="1800" dirty="0">
                <a:latin typeface="Times New Roman" pitchFamily="18" charset="0"/>
                <a:cs typeface="Times New Roman" pitchFamily="18" charset="0"/>
              </a:rPr>
              <a:t>The combination of primary keys of the participating entity sets forms a super key of a relationship set.</a:t>
            </a:r>
          </a:p>
          <a:p>
            <a:pPr lvl="1" algn="just"/>
            <a:r>
              <a:rPr lang="en-US" sz="1800" dirty="0">
                <a:latin typeface="Times New Roman" pitchFamily="18" charset="0"/>
                <a:cs typeface="Times New Roman" pitchFamily="18" charset="0"/>
              </a:rPr>
              <a:t>(</a:t>
            </a:r>
            <a:r>
              <a:rPr lang="en-US" sz="1800" i="1" dirty="0">
                <a:latin typeface="Times New Roman" pitchFamily="18" charset="0"/>
                <a:cs typeface="Times New Roman" pitchFamily="18" charset="0"/>
              </a:rPr>
              <a:t>customer_id, account_number</a:t>
            </a:r>
            <a:r>
              <a:rPr lang="en-US" sz="1800" dirty="0">
                <a:latin typeface="Times New Roman" pitchFamily="18" charset="0"/>
                <a:cs typeface="Times New Roman" pitchFamily="18" charset="0"/>
              </a:rPr>
              <a:t>) is the super key of </a:t>
            </a:r>
            <a:r>
              <a:rPr lang="en-US" sz="1800" i="1" dirty="0">
                <a:latin typeface="Times New Roman" pitchFamily="18" charset="0"/>
                <a:cs typeface="Times New Roman" pitchFamily="18" charset="0"/>
              </a:rPr>
              <a:t>depositor</a:t>
            </a:r>
          </a:p>
          <a:p>
            <a:pPr algn="just"/>
            <a:r>
              <a:rPr lang="en-US" sz="1800" dirty="0">
                <a:latin typeface="Times New Roman" pitchFamily="18" charset="0"/>
                <a:cs typeface="Times New Roman" pitchFamily="18" charset="0"/>
              </a:rPr>
              <a:t>Need to consider semantics of relationship set in selecting the </a:t>
            </a:r>
            <a:r>
              <a:rPr lang="en-US" sz="1800" i="1" dirty="0">
                <a:latin typeface="Times New Roman" pitchFamily="18" charset="0"/>
                <a:cs typeface="Times New Roman" pitchFamily="18" charset="0"/>
              </a:rPr>
              <a:t>primary key  </a:t>
            </a:r>
            <a:r>
              <a:rPr lang="en-US" sz="1800" dirty="0">
                <a:latin typeface="Times New Roman" pitchFamily="18" charset="0"/>
                <a:cs typeface="Times New Roman" pitchFamily="18" charset="0"/>
              </a:rPr>
              <a:t>in case of more than one candidate key</a:t>
            </a:r>
          </a:p>
        </p:txBody>
      </p:sp>
      <p:sp>
        <p:nvSpPr>
          <p:cNvPr id="3" name="TextBox 2">
            <a:extLst>
              <a:ext uri="{FF2B5EF4-FFF2-40B4-BE49-F238E27FC236}">
                <a16:creationId xmlns:a16="http://schemas.microsoft.com/office/drawing/2014/main" id="{BA7CEE88-0867-A0CC-4580-90542CAB45CD}"/>
              </a:ext>
            </a:extLst>
          </p:cNvPr>
          <p:cNvSpPr txBox="1"/>
          <p:nvPr/>
        </p:nvSpPr>
        <p:spPr>
          <a:xfrm>
            <a:off x="2286000" y="3109845"/>
            <a:ext cx="4572000" cy="646331"/>
          </a:xfrm>
          <a:prstGeom prst="rect">
            <a:avLst/>
          </a:prstGeom>
          <a:noFill/>
        </p:spPr>
        <p:txBody>
          <a:bodyPr wrap="square">
            <a:spAutoFit/>
          </a:bodyPr>
          <a:lstStyle/>
          <a:p>
            <a:r>
              <a:rPr lang="en-US" dirty="0">
                <a:hlinkClick r:id="rId2"/>
              </a:rPr>
              <a:t>DBMS Keys: Primary, Foreign, Candidate and Super Key - </a:t>
            </a:r>
            <a:r>
              <a:rPr lang="en-US" dirty="0" err="1">
                <a:hlinkClick r:id="rId2"/>
              </a:rPr>
              <a:t>javatpoint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7C02-AB38-D144-DB55-8911CE0B18C0}"/>
              </a:ext>
            </a:extLst>
          </p:cNvPr>
          <p:cNvSpPr>
            <a:spLocks noGrp="1"/>
          </p:cNvSpPr>
          <p:nvPr>
            <p:ph type="title"/>
          </p:nvPr>
        </p:nvSpPr>
        <p:spPr/>
        <p:txBody>
          <a:bodyPr/>
          <a:lstStyle/>
          <a:p>
            <a:endParaRPr lang="en-US" dirty="0"/>
          </a:p>
        </p:txBody>
      </p:sp>
      <p:pic>
        <p:nvPicPr>
          <p:cNvPr id="10242" name="Picture 2" descr="DBMS Keys">
            <a:extLst>
              <a:ext uri="{FF2B5EF4-FFF2-40B4-BE49-F238E27FC236}">
                <a16:creationId xmlns:a16="http://schemas.microsoft.com/office/drawing/2014/main" id="{A9895F88-FAF7-0BAB-A66B-685ABDBA63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9179" y="274638"/>
            <a:ext cx="8229600" cy="189220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BMS Keys">
            <a:extLst>
              <a:ext uri="{FF2B5EF4-FFF2-40B4-BE49-F238E27FC236}">
                <a16:creationId xmlns:a16="http://schemas.microsoft.com/office/drawing/2014/main" id="{FE611B8F-B90F-A156-5AAF-A1ADC303E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182887"/>
            <a:ext cx="3833061" cy="2580928"/>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DBMS Keys">
            <a:extLst>
              <a:ext uri="{FF2B5EF4-FFF2-40B4-BE49-F238E27FC236}">
                <a16:creationId xmlns:a16="http://schemas.microsoft.com/office/drawing/2014/main" id="{3B7FEE27-72E5-A052-62F4-DD8CC77051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2182887"/>
            <a:ext cx="3833061" cy="2316872"/>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DBMS Keys">
            <a:extLst>
              <a:ext uri="{FF2B5EF4-FFF2-40B4-BE49-F238E27FC236}">
                <a16:creationId xmlns:a16="http://schemas.microsoft.com/office/drawing/2014/main" id="{45F6453C-91AB-65BD-50C9-AFDC9E22B5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0700" y="4499759"/>
            <a:ext cx="4538079" cy="1618581"/>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DBMS Keys">
            <a:extLst>
              <a:ext uri="{FF2B5EF4-FFF2-40B4-BE49-F238E27FC236}">
                <a16:creationId xmlns:a16="http://schemas.microsoft.com/office/drawing/2014/main" id="{66EE4E36-B62F-E78F-E5F1-5DFE42ECF5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0" y="3578151"/>
            <a:ext cx="2783729" cy="1290638"/>
          </a:xfrm>
          <a:prstGeom prst="rect">
            <a:avLst/>
          </a:prstGeom>
          <a:noFill/>
          <a:extLst>
            <a:ext uri="{909E8E84-426E-40DD-AFC4-6F175D3DCCD1}">
              <a14:hiddenFill xmlns:a14="http://schemas.microsoft.com/office/drawing/2010/main">
                <a:solidFill>
                  <a:srgbClr val="FFFFFF"/>
                </a:solidFill>
              </a14:hiddenFill>
            </a:ext>
          </a:extLst>
        </p:spPr>
      </p:pic>
      <p:pic>
        <p:nvPicPr>
          <p:cNvPr id="10252" name="Picture 12" descr="DBMS Keys">
            <a:extLst>
              <a:ext uri="{FF2B5EF4-FFF2-40B4-BE49-F238E27FC236}">
                <a16:creationId xmlns:a16="http://schemas.microsoft.com/office/drawing/2014/main" id="{9AE7B4F5-6593-2867-143C-69FB9069D1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037" y="4583297"/>
            <a:ext cx="2833363" cy="1459182"/>
          </a:xfrm>
          <a:prstGeom prst="rect">
            <a:avLst/>
          </a:prstGeom>
          <a:noFill/>
          <a:extLst>
            <a:ext uri="{909E8E84-426E-40DD-AFC4-6F175D3DCCD1}">
              <a14:hiddenFill xmlns:a14="http://schemas.microsoft.com/office/drawing/2010/main">
                <a:solidFill>
                  <a:srgbClr val="FFFFFF"/>
                </a:solidFill>
              </a14:hiddenFill>
            </a:ext>
          </a:extLst>
        </p:spPr>
      </p:pic>
      <p:pic>
        <p:nvPicPr>
          <p:cNvPr id="10254" name="Picture 14" descr="DBMS Keys">
            <a:extLst>
              <a:ext uri="{FF2B5EF4-FFF2-40B4-BE49-F238E27FC236}">
                <a16:creationId xmlns:a16="http://schemas.microsoft.com/office/drawing/2014/main" id="{5FFB48ED-371C-8024-5828-EDD2DC21C7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815" y="5715376"/>
            <a:ext cx="1881735" cy="1124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891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sz="3200" dirty="0">
                <a:latin typeface="Times New Roman" pitchFamily="18" charset="0"/>
                <a:cs typeface="Times New Roman" pitchFamily="18" charset="0"/>
              </a:rPr>
              <a:t>Degree of a Relationship Set</a:t>
            </a:r>
          </a:p>
        </p:txBody>
      </p:sp>
      <p:sp>
        <p:nvSpPr>
          <p:cNvPr id="21507" name="Rectangle 3"/>
          <p:cNvSpPr>
            <a:spLocks noGrp="1" noChangeArrowheads="1"/>
          </p:cNvSpPr>
          <p:nvPr>
            <p:ph type="body" idx="1"/>
          </p:nvPr>
        </p:nvSpPr>
        <p:spPr>
          <a:xfrm>
            <a:off x="855663" y="1222375"/>
            <a:ext cx="7221537" cy="4195763"/>
          </a:xfrm>
        </p:spPr>
        <p:txBody>
          <a:bodyPr/>
          <a:lstStyle/>
          <a:p>
            <a:pPr algn="just"/>
            <a:r>
              <a:rPr lang="en-US" sz="1800" dirty="0">
                <a:latin typeface="Times New Roman" pitchFamily="18" charset="0"/>
                <a:cs typeface="Times New Roman" pitchFamily="18" charset="0"/>
              </a:rPr>
              <a:t>Refers to number of entity sets that participate in a relationship set.</a:t>
            </a:r>
          </a:p>
          <a:p>
            <a:pPr algn="just"/>
            <a:r>
              <a:rPr lang="en-US" sz="1800" dirty="0">
                <a:latin typeface="Times New Roman" pitchFamily="18" charset="0"/>
                <a:cs typeface="Times New Roman" pitchFamily="18" charset="0"/>
              </a:rPr>
              <a:t>Relationship sets that involve two entity sets are </a:t>
            </a:r>
            <a:r>
              <a:rPr lang="en-US" sz="1800" b="1" dirty="0">
                <a:solidFill>
                  <a:schemeClr val="tx2"/>
                </a:solidFill>
                <a:latin typeface="Times New Roman" pitchFamily="18" charset="0"/>
                <a:cs typeface="Times New Roman" pitchFamily="18" charset="0"/>
              </a:rPr>
              <a:t>binary</a:t>
            </a:r>
            <a:r>
              <a:rPr lang="en-US" sz="1800" dirty="0">
                <a:latin typeface="Times New Roman" pitchFamily="18" charset="0"/>
                <a:cs typeface="Times New Roman" pitchFamily="18" charset="0"/>
              </a:rPr>
              <a:t> (or degree two).  </a:t>
            </a:r>
          </a:p>
          <a:p>
            <a:pPr algn="just"/>
            <a:r>
              <a:rPr lang="en-US" sz="1800" dirty="0">
                <a:latin typeface="Times New Roman" pitchFamily="18" charset="0"/>
                <a:cs typeface="Times New Roman" pitchFamily="18" charset="0"/>
              </a:rPr>
              <a:t>Relationship sets may involve more than two entity sets. </a:t>
            </a:r>
          </a:p>
          <a:p>
            <a:pPr algn="just"/>
            <a:endParaRPr lang="en-US" sz="1800" dirty="0">
              <a:latin typeface="Times New Roman" pitchFamily="18" charset="0"/>
              <a:cs typeface="Times New Roman" pitchFamily="18" charset="0"/>
            </a:endParaRPr>
          </a:p>
          <a:p>
            <a:pPr algn="just">
              <a:buNone/>
            </a:pPr>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a:p>
            <a:pPr algn="just"/>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Relationships between more than two entity sets are rare.  Most relationships are binary.</a:t>
            </a:r>
          </a:p>
        </p:txBody>
      </p:sp>
      <p:sp>
        <p:nvSpPr>
          <p:cNvPr id="21508" name="Text Box 4"/>
          <p:cNvSpPr txBox="1">
            <a:spLocks noChangeArrowheads="1"/>
          </p:cNvSpPr>
          <p:nvPr/>
        </p:nvSpPr>
        <p:spPr bwMode="auto">
          <a:xfrm>
            <a:off x="1085850" y="2438400"/>
            <a:ext cx="6902450" cy="1219200"/>
          </a:xfrm>
          <a:prstGeom prst="rect">
            <a:avLst/>
          </a:prstGeom>
          <a:noFill/>
          <a:ln w="9525">
            <a:noFill/>
            <a:miter lim="800000"/>
            <a:headEnd/>
            <a:tailEnd/>
          </a:ln>
        </p:spPr>
        <p:txBody>
          <a:bodyPr wrap="square">
            <a:spAutoFit/>
          </a:bodyPr>
          <a:lstStyle/>
          <a:p>
            <a:pPr marL="692150" lvl="1" indent="-234950" algn="just">
              <a:spcBef>
                <a:spcPct val="35000"/>
              </a:spcBef>
              <a:buClr>
                <a:srgbClr val="CC6600"/>
              </a:buClr>
              <a:buSzPct val="105000"/>
              <a:buFont typeface="Webdings" pitchFamily="18" charset="2"/>
              <a:buChar char="4"/>
            </a:pPr>
            <a:r>
              <a:rPr kumimoji="1" lang="en-US" sz="1800" dirty="0">
                <a:latin typeface="Times New Roman" pitchFamily="18" charset="0"/>
                <a:cs typeface="Times New Roman" pitchFamily="18" charset="0"/>
              </a:rPr>
              <a:t>Example: Suppose employees of a bank may have jobs (responsibilities) at multiple branches, with different jobs at different branches.  Then there is a ternary relationship set between entity sets </a:t>
            </a:r>
            <a:r>
              <a:rPr kumimoji="1" lang="en-US" sz="1800" i="1" dirty="0">
                <a:latin typeface="Times New Roman" pitchFamily="18" charset="0"/>
                <a:cs typeface="Times New Roman" pitchFamily="18" charset="0"/>
              </a:rPr>
              <a:t>employee,  job, and branch</a:t>
            </a:r>
            <a:endParaRPr lang="en-US" sz="18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457200" y="228600"/>
            <a:ext cx="8267700" cy="609600"/>
          </a:xfrm>
        </p:spPr>
        <p:txBody>
          <a:bodyPr>
            <a:noAutofit/>
          </a:bodyPr>
          <a:lstStyle/>
          <a:p>
            <a:pPr>
              <a:defRPr/>
            </a:pPr>
            <a:r>
              <a:rPr lang="en-US" sz="3600" dirty="0">
                <a:latin typeface="Times New Roman" pitchFamily="18" charset="0"/>
                <a:cs typeface="Times New Roman" pitchFamily="18" charset="0"/>
              </a:rPr>
              <a:t>Entity Sets </a:t>
            </a:r>
            <a:r>
              <a:rPr lang="en-US" sz="3600" dirty="0" err="1">
                <a:latin typeface="Times New Roman" pitchFamily="18" charset="0"/>
                <a:cs typeface="Times New Roman" pitchFamily="18" charset="0"/>
              </a:rPr>
              <a:t>vs</a:t>
            </a:r>
            <a:r>
              <a:rPr lang="en-US" sz="3600" dirty="0">
                <a:latin typeface="Times New Roman" pitchFamily="18" charset="0"/>
                <a:cs typeface="Times New Roman" pitchFamily="18" charset="0"/>
              </a:rPr>
              <a:t> Attributes</a:t>
            </a:r>
          </a:p>
        </p:txBody>
      </p:sp>
      <p:sp>
        <p:nvSpPr>
          <p:cNvPr id="29699" name="Rectangle 7"/>
          <p:cNvSpPr>
            <a:spLocks noChangeArrowheads="1"/>
          </p:cNvSpPr>
          <p:nvPr/>
        </p:nvSpPr>
        <p:spPr bwMode="auto">
          <a:xfrm>
            <a:off x="855663" y="1143000"/>
            <a:ext cx="7754937" cy="5180013"/>
          </a:xfrm>
          <a:prstGeom prst="rect">
            <a:avLst/>
          </a:prstGeom>
          <a:noFill/>
          <a:ln w="9525">
            <a:noFill/>
            <a:miter lim="800000"/>
            <a:headEnd/>
            <a:tailEnd/>
          </a:ln>
        </p:spPr>
        <p:txBody>
          <a:bodyPr/>
          <a:lstStyle/>
          <a:p>
            <a:pPr algn="just">
              <a:buFont typeface="Wingdings" pitchFamily="2" charset="2"/>
              <a:buChar char="§"/>
            </a:pPr>
            <a:r>
              <a:rPr lang="en-US" dirty="0">
                <a:latin typeface="Times New Roman" pitchFamily="18" charset="0"/>
                <a:cs typeface="Times New Roman" pitchFamily="18" charset="0"/>
              </a:rPr>
              <a:t> Consider the entity set </a:t>
            </a:r>
            <a:r>
              <a:rPr lang="en-US" i="1" dirty="0">
                <a:latin typeface="Times New Roman" pitchFamily="18" charset="0"/>
                <a:cs typeface="Times New Roman" pitchFamily="18" charset="0"/>
              </a:rPr>
              <a:t>employee </a:t>
            </a:r>
            <a:r>
              <a:rPr lang="en-US" dirty="0">
                <a:latin typeface="Times New Roman" pitchFamily="18" charset="0"/>
                <a:cs typeface="Times New Roman" pitchFamily="18" charset="0"/>
              </a:rPr>
              <a:t>with attributes </a:t>
            </a:r>
            <a:r>
              <a:rPr lang="en-US" i="1" dirty="0">
                <a:latin typeface="Times New Roman" pitchFamily="18" charset="0"/>
                <a:cs typeface="Times New Roman" pitchFamily="18" charset="0"/>
              </a:rPr>
              <a:t>employee-name </a:t>
            </a:r>
            <a:r>
              <a:rPr lang="en-US" dirty="0">
                <a:latin typeface="Times New Roman" pitchFamily="18" charset="0"/>
                <a:cs typeface="Times New Roman" pitchFamily="18" charset="0"/>
              </a:rPr>
              <a:t>and</a:t>
            </a:r>
            <a:r>
              <a:rPr lang="en-US" i="1" dirty="0">
                <a:latin typeface="Times New Roman" pitchFamily="18" charset="0"/>
                <a:cs typeface="Times New Roman" pitchFamily="18" charset="0"/>
              </a:rPr>
              <a:t> telephone-number. </a:t>
            </a:r>
            <a:r>
              <a:rPr lang="en-US" dirty="0">
                <a:latin typeface="Times New Roman" pitchFamily="18" charset="0"/>
                <a:cs typeface="Times New Roman" pitchFamily="18" charset="0"/>
              </a:rPr>
              <a:t>It can easily be argued that a telephone is an entity in its own right with attributes </a:t>
            </a:r>
            <a:r>
              <a:rPr lang="en-US" i="1" dirty="0">
                <a:latin typeface="Times New Roman" pitchFamily="18" charset="0"/>
                <a:cs typeface="Times New Roman" pitchFamily="18" charset="0"/>
              </a:rPr>
              <a:t>telephone-number </a:t>
            </a:r>
            <a:r>
              <a:rPr lang="en-US" dirty="0">
                <a:latin typeface="Times New Roman" pitchFamily="18" charset="0"/>
                <a:cs typeface="Times New Roman" pitchFamily="18" charset="0"/>
              </a:rPr>
              <a:t>and</a:t>
            </a:r>
            <a:r>
              <a:rPr lang="en-US" i="1" dirty="0">
                <a:latin typeface="Times New Roman" pitchFamily="18" charset="0"/>
                <a:cs typeface="Times New Roman" pitchFamily="18" charset="0"/>
              </a:rPr>
              <a:t> location.</a:t>
            </a:r>
          </a:p>
          <a:p>
            <a:pPr algn="just"/>
            <a:endParaRPr lang="en-US" i="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 </a:t>
            </a:r>
            <a:r>
              <a:rPr lang="en-US" i="1" dirty="0">
                <a:latin typeface="Times New Roman" pitchFamily="18" charset="0"/>
                <a:cs typeface="Times New Roman" pitchFamily="18" charset="0"/>
              </a:rPr>
              <a:t>employee</a:t>
            </a:r>
            <a:r>
              <a:rPr lang="en-US" dirty="0">
                <a:latin typeface="Times New Roman" pitchFamily="18" charset="0"/>
                <a:cs typeface="Times New Roman" pitchFamily="18" charset="0"/>
              </a:rPr>
              <a:t> entity set with attribute </a:t>
            </a:r>
            <a:r>
              <a:rPr lang="en-US" i="1" dirty="0">
                <a:latin typeface="Times New Roman" pitchFamily="18" charset="0"/>
                <a:cs typeface="Times New Roman" pitchFamily="18" charset="0"/>
              </a:rPr>
              <a:t>employee-name</a:t>
            </a:r>
          </a:p>
          <a:p>
            <a:pPr algn="just"/>
            <a:r>
              <a:rPr lang="en-US" dirty="0">
                <a:latin typeface="Times New Roman" pitchFamily="18" charset="0"/>
                <a:cs typeface="Times New Roman" pitchFamily="18" charset="0"/>
              </a:rPr>
              <a:t>•  The </a:t>
            </a:r>
            <a:r>
              <a:rPr lang="en-US" i="1" dirty="0">
                <a:latin typeface="Times New Roman" pitchFamily="18" charset="0"/>
                <a:cs typeface="Times New Roman" pitchFamily="18" charset="0"/>
              </a:rPr>
              <a:t>telephone</a:t>
            </a:r>
            <a:r>
              <a:rPr lang="en-US" dirty="0">
                <a:latin typeface="Times New Roman" pitchFamily="18" charset="0"/>
                <a:cs typeface="Times New Roman" pitchFamily="18" charset="0"/>
              </a:rPr>
              <a:t> entity set with attributes </a:t>
            </a:r>
            <a:r>
              <a:rPr lang="en-US" i="1" dirty="0">
                <a:latin typeface="Times New Roman" pitchFamily="18" charset="0"/>
                <a:cs typeface="Times New Roman" pitchFamily="18" charset="0"/>
              </a:rPr>
              <a:t>telephone-number </a:t>
            </a:r>
            <a:r>
              <a:rPr lang="en-US" dirty="0">
                <a:latin typeface="Times New Roman" pitchFamily="18" charset="0"/>
                <a:cs typeface="Times New Roman" pitchFamily="18" charset="0"/>
              </a:rPr>
              <a:t>and</a:t>
            </a:r>
            <a:r>
              <a:rPr lang="en-US" i="1" dirty="0">
                <a:latin typeface="Times New Roman" pitchFamily="18" charset="0"/>
                <a:cs typeface="Times New Roman" pitchFamily="18" charset="0"/>
              </a:rPr>
              <a:t> location</a:t>
            </a:r>
          </a:p>
          <a:p>
            <a:pPr algn="just"/>
            <a:r>
              <a:rPr lang="en-US" dirty="0">
                <a:latin typeface="Times New Roman" pitchFamily="18" charset="0"/>
                <a:cs typeface="Times New Roman" pitchFamily="18" charset="0"/>
              </a:rPr>
              <a:t>• The relationship set </a:t>
            </a:r>
            <a:r>
              <a:rPr lang="en-US" i="1" dirty="0" err="1">
                <a:latin typeface="Times New Roman" pitchFamily="18" charset="0"/>
                <a:cs typeface="Times New Roman" pitchFamily="18" charset="0"/>
              </a:rPr>
              <a:t>emp</a:t>
            </a:r>
            <a:r>
              <a:rPr lang="en-US" i="1" dirty="0">
                <a:latin typeface="Times New Roman" pitchFamily="18" charset="0"/>
                <a:cs typeface="Times New Roman" pitchFamily="18" charset="0"/>
              </a:rPr>
              <a:t>-telephone </a:t>
            </a:r>
            <a:r>
              <a:rPr lang="en-US" dirty="0">
                <a:latin typeface="Times New Roman" pitchFamily="18" charset="0"/>
                <a:cs typeface="Times New Roman" pitchFamily="18" charset="0"/>
              </a:rPr>
              <a:t>denotes the association between employees and the telephones that they have</a:t>
            </a:r>
            <a:endParaRPr kumimoji="1" lang="en-US" sz="18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457200" y="228600"/>
            <a:ext cx="8267700" cy="609600"/>
          </a:xfrm>
        </p:spPr>
        <p:txBody>
          <a:bodyPr>
            <a:noAutofit/>
          </a:bodyPr>
          <a:lstStyle/>
          <a:p>
            <a:pPr>
              <a:defRPr/>
            </a:pPr>
            <a:r>
              <a:rPr lang="en-US" sz="3600" dirty="0">
                <a:latin typeface="Times New Roman" pitchFamily="18" charset="0"/>
                <a:cs typeface="Times New Roman" pitchFamily="18" charset="0"/>
              </a:rPr>
              <a:t>Entity Sets </a:t>
            </a:r>
            <a:r>
              <a:rPr lang="en-US" sz="3600" dirty="0" err="1">
                <a:latin typeface="Times New Roman" pitchFamily="18" charset="0"/>
                <a:cs typeface="Times New Roman" pitchFamily="18" charset="0"/>
              </a:rPr>
              <a:t>vs</a:t>
            </a:r>
            <a:r>
              <a:rPr lang="en-US" sz="3600" dirty="0">
                <a:latin typeface="Times New Roman" pitchFamily="18" charset="0"/>
                <a:cs typeface="Times New Roman" pitchFamily="18" charset="0"/>
              </a:rPr>
              <a:t> Relationship Sets</a:t>
            </a:r>
          </a:p>
        </p:txBody>
      </p:sp>
      <p:sp>
        <p:nvSpPr>
          <p:cNvPr id="29699" name="Rectangle 7"/>
          <p:cNvSpPr>
            <a:spLocks noChangeArrowheads="1"/>
          </p:cNvSpPr>
          <p:nvPr/>
        </p:nvSpPr>
        <p:spPr bwMode="auto">
          <a:xfrm>
            <a:off x="855663" y="1295400"/>
            <a:ext cx="7678737" cy="5027613"/>
          </a:xfrm>
          <a:prstGeom prst="rect">
            <a:avLst/>
          </a:prstGeom>
          <a:noFill/>
          <a:ln w="9525">
            <a:noFill/>
            <a:miter lim="800000"/>
            <a:headEnd/>
            <a:tailEnd/>
          </a:ln>
        </p:spPr>
        <p:txBody>
          <a:bodyPr/>
          <a:lstStyle/>
          <a:p>
            <a:pPr algn="just">
              <a:buFont typeface="Wingdings" pitchFamily="2" charset="2"/>
              <a:buChar char="§"/>
            </a:pPr>
            <a:r>
              <a:rPr lang="en-US" dirty="0">
                <a:latin typeface="Times New Roman" pitchFamily="18" charset="0"/>
                <a:cs typeface="Times New Roman" pitchFamily="18" charset="0"/>
              </a:rPr>
              <a:t>  An object may be expressed by an entity set or a relationship set. </a:t>
            </a:r>
          </a:p>
          <a:p>
            <a:pPr algn="just">
              <a:buFont typeface="Wingdings" pitchFamily="2" charset="2"/>
              <a:buChar char="§"/>
            </a:pP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 bank loan can be modeled as an entity.</a:t>
            </a:r>
          </a:p>
          <a:p>
            <a:pPr algn="just"/>
            <a:r>
              <a:rPr lang="en-US" dirty="0">
                <a:latin typeface="Times New Roman" pitchFamily="18" charset="0"/>
                <a:cs typeface="Times New Roman" pitchFamily="18" charset="0"/>
              </a:rPr>
              <a:t>- An alternative is to model a loan not as an entity, but rather as a relationship between customers and branches, with </a:t>
            </a:r>
            <a:r>
              <a:rPr lang="en-US" i="1" dirty="0">
                <a:latin typeface="Times New Roman" pitchFamily="18" charset="0"/>
                <a:cs typeface="Times New Roman" pitchFamily="18" charset="0"/>
              </a:rPr>
              <a:t>loan-number </a:t>
            </a:r>
            <a:r>
              <a:rPr lang="en-US" dirty="0">
                <a:latin typeface="Times New Roman" pitchFamily="18" charset="0"/>
                <a:cs typeface="Times New Roman" pitchFamily="18" charset="0"/>
              </a:rPr>
              <a:t>and</a:t>
            </a:r>
            <a:r>
              <a:rPr lang="en-US" i="1" dirty="0">
                <a:latin typeface="Times New Roman" pitchFamily="18" charset="0"/>
                <a:cs typeface="Times New Roman" pitchFamily="18" charset="0"/>
              </a:rPr>
              <a:t> amount </a:t>
            </a:r>
            <a:r>
              <a:rPr lang="en-US" dirty="0">
                <a:latin typeface="Times New Roman" pitchFamily="18" charset="0"/>
                <a:cs typeface="Times New Roman" pitchFamily="18" charset="0"/>
              </a:rPr>
              <a:t>as descriptive attributes. Each loan is represented by a relationship between a customer and a branch.</a:t>
            </a:r>
            <a:endParaRPr kumimoji="1" lang="en-US" sz="18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D73F0-E55B-A9E8-8286-71BB7C8E24AE}"/>
              </a:ext>
            </a:extLst>
          </p:cNvPr>
          <p:cNvSpPr>
            <a:spLocks noGrp="1"/>
          </p:cNvSpPr>
          <p:nvPr>
            <p:ph type="title"/>
          </p:nvPr>
        </p:nvSpPr>
        <p:spPr/>
        <p:txBody>
          <a:bodyPr/>
          <a:lstStyle/>
          <a:p>
            <a:endParaRPr lang="en-US"/>
          </a:p>
        </p:txBody>
      </p:sp>
      <p:pic>
        <p:nvPicPr>
          <p:cNvPr id="4098" name="Picture 2" descr="DBMS ER model concept">
            <a:extLst>
              <a:ext uri="{FF2B5EF4-FFF2-40B4-BE49-F238E27FC236}">
                <a16:creationId xmlns:a16="http://schemas.microsoft.com/office/drawing/2014/main" id="{1C4285F4-16F5-B619-0D3C-229FAD991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4462" y="533400"/>
            <a:ext cx="6060263" cy="5410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0170C09-4307-A68C-2A61-0D3683639E80}"/>
              </a:ext>
            </a:extLst>
          </p:cNvPr>
          <p:cNvSpPr/>
          <p:nvPr/>
        </p:nvSpPr>
        <p:spPr>
          <a:xfrm>
            <a:off x="1760263" y="3733800"/>
            <a:ext cx="1447800" cy="304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Strong Entity</a:t>
            </a:r>
          </a:p>
        </p:txBody>
      </p:sp>
    </p:spTree>
    <p:extLst>
      <p:ext uri="{BB962C8B-B14F-4D97-AF65-F5344CB8AC3E}">
        <p14:creationId xmlns:p14="http://schemas.microsoft.com/office/powerpoint/2010/main" val="464853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B7F-9705-AB6F-B001-542571FE994C}"/>
              </a:ext>
            </a:extLst>
          </p:cNvPr>
          <p:cNvSpPr>
            <a:spLocks noGrp="1"/>
          </p:cNvSpPr>
          <p:nvPr>
            <p:ph type="title"/>
          </p:nvPr>
        </p:nvSpPr>
        <p:spPr/>
        <p:txBody>
          <a:bodyPr/>
          <a:lstStyle/>
          <a:p>
            <a:endParaRPr lang="en-US"/>
          </a:p>
        </p:txBody>
      </p:sp>
      <p:pic>
        <p:nvPicPr>
          <p:cNvPr id="5122" name="Picture 2">
            <a:extLst>
              <a:ext uri="{FF2B5EF4-FFF2-40B4-BE49-F238E27FC236}">
                <a16:creationId xmlns:a16="http://schemas.microsoft.com/office/drawing/2014/main" id="{11C9B9FD-7859-8832-38AE-0826B8CA94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57200"/>
            <a:ext cx="9144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a:extLst>
              <a:ext uri="{FF2B5EF4-FFF2-40B4-BE49-F238E27FC236}">
                <a16:creationId xmlns:a16="http://schemas.microsoft.com/office/drawing/2014/main" id="{D308472E-BF7D-1492-9EC3-CA5D2D6A5F02}"/>
              </a:ext>
            </a:extLst>
          </p:cNvPr>
          <p:cNvPicPr>
            <a:picLocks noChangeAspect="1" noChangeArrowheads="1"/>
          </p:cNvPicPr>
          <p:nvPr/>
        </p:nvPicPr>
        <p:blipFill>
          <a:blip r:embed="rId3"/>
          <a:srcRect l="423" t="30743" r="635" b="31024"/>
          <a:stretch>
            <a:fillRect/>
          </a:stretch>
        </p:blipFill>
        <p:spPr bwMode="auto">
          <a:xfrm>
            <a:off x="1295400" y="4321175"/>
            <a:ext cx="7175500" cy="2079625"/>
          </a:xfrm>
          <a:prstGeom prst="rect">
            <a:avLst/>
          </a:prstGeom>
          <a:noFill/>
          <a:ln w="38100" cmpd="dbl">
            <a:solidFill>
              <a:schemeClr val="tx2"/>
            </a:solidFill>
            <a:miter lim="800000"/>
            <a:headEnd/>
            <a:tailEnd/>
          </a:ln>
        </p:spPr>
      </p:pic>
    </p:spTree>
    <p:extLst>
      <p:ext uri="{BB962C8B-B14F-4D97-AF65-F5344CB8AC3E}">
        <p14:creationId xmlns:p14="http://schemas.microsoft.com/office/powerpoint/2010/main" val="2908321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457200" y="228600"/>
            <a:ext cx="8267700" cy="609600"/>
          </a:xfrm>
        </p:spPr>
        <p:txBody>
          <a:bodyPr>
            <a:noAutofit/>
          </a:bodyPr>
          <a:lstStyle/>
          <a:p>
            <a:pPr>
              <a:defRPr/>
            </a:pPr>
            <a:r>
              <a:rPr lang="en-US" sz="3600" dirty="0">
                <a:latin typeface="Times New Roman" pitchFamily="18" charset="0"/>
                <a:cs typeface="Times New Roman" pitchFamily="18" charset="0"/>
              </a:rPr>
              <a:t>E-R Diagrams </a:t>
            </a:r>
          </a:p>
        </p:txBody>
      </p:sp>
      <p:sp>
        <p:nvSpPr>
          <p:cNvPr id="29699" name="Rectangle 7"/>
          <p:cNvSpPr>
            <a:spLocks noChangeArrowheads="1"/>
          </p:cNvSpPr>
          <p:nvPr/>
        </p:nvSpPr>
        <p:spPr bwMode="auto">
          <a:xfrm>
            <a:off x="1166479" y="1066800"/>
            <a:ext cx="7602537" cy="2828925"/>
          </a:xfrm>
          <a:prstGeom prst="rect">
            <a:avLst/>
          </a:prstGeom>
          <a:noFill/>
          <a:ln w="9525">
            <a:noFill/>
            <a:miter lim="800000"/>
            <a:headEnd/>
            <a:tailEnd/>
          </a:ln>
        </p:spPr>
        <p:txBody>
          <a:bodyPr/>
          <a:lstStyle/>
          <a:p>
            <a:pPr>
              <a:buFont typeface="Wingdings" pitchFamily="2" charset="2"/>
              <a:buChar char="§"/>
            </a:pPr>
            <a:r>
              <a:rPr lang="en-US" dirty="0">
                <a:latin typeface="Times New Roman" pitchFamily="18" charset="0"/>
                <a:cs typeface="Times New Roman" pitchFamily="18" charset="0"/>
              </a:rPr>
              <a:t> Rectangles represents entity sets</a:t>
            </a:r>
          </a:p>
          <a:p>
            <a:pPr lvl="1">
              <a:buFont typeface="Wingdings" pitchFamily="2" charset="2"/>
              <a:buChar char="§"/>
            </a:pPr>
            <a:r>
              <a:rPr lang="en-US" dirty="0">
                <a:latin typeface="Times New Roman" pitchFamily="18" charset="0"/>
                <a:cs typeface="Times New Roman" pitchFamily="18" charset="0"/>
              </a:rPr>
              <a:t>Double rectangles represents weak entity sets</a:t>
            </a:r>
          </a:p>
          <a:p>
            <a:pPr>
              <a:buFont typeface="Wingdings" pitchFamily="2" charset="2"/>
              <a:buChar char="§"/>
            </a:pPr>
            <a:r>
              <a:rPr lang="en-US" dirty="0">
                <a:latin typeface="Times New Roman" pitchFamily="18" charset="0"/>
                <a:cs typeface="Times New Roman" pitchFamily="18" charset="0"/>
              </a:rPr>
              <a:t> Ellipses represents attributes</a:t>
            </a:r>
          </a:p>
          <a:p>
            <a:pPr lvl="1">
              <a:buFont typeface="Wingdings" pitchFamily="2" charset="2"/>
              <a:buChar char="§"/>
            </a:pPr>
            <a:r>
              <a:rPr lang="en-US" dirty="0">
                <a:latin typeface="Times New Roman" pitchFamily="18" charset="0"/>
                <a:cs typeface="Times New Roman" pitchFamily="18" charset="0"/>
              </a:rPr>
              <a:t>Underlined ellipses represents primary key</a:t>
            </a:r>
          </a:p>
          <a:p>
            <a:pPr lvl="1">
              <a:buFont typeface="Wingdings" pitchFamily="2" charset="2"/>
              <a:buChar char="§"/>
            </a:pPr>
            <a:r>
              <a:rPr lang="en-US" dirty="0">
                <a:latin typeface="Times New Roman" pitchFamily="18" charset="0"/>
                <a:cs typeface="Times New Roman" pitchFamily="18" charset="0"/>
              </a:rPr>
              <a:t>Double ellipses represents multivalued attributes</a:t>
            </a:r>
          </a:p>
          <a:p>
            <a:pPr lvl="1">
              <a:buFont typeface="Wingdings" pitchFamily="2" charset="2"/>
              <a:buChar char="§"/>
            </a:pPr>
            <a:r>
              <a:rPr lang="en-US" dirty="0">
                <a:latin typeface="Times New Roman" pitchFamily="18" charset="0"/>
                <a:cs typeface="Times New Roman" pitchFamily="18" charset="0"/>
              </a:rPr>
              <a:t> Dashed ellipses denotes derived attributes</a:t>
            </a:r>
          </a:p>
          <a:p>
            <a:pPr>
              <a:buFont typeface="Wingdings" pitchFamily="2" charset="2"/>
              <a:buChar char="§"/>
            </a:pPr>
            <a:r>
              <a:rPr lang="en-US" dirty="0">
                <a:latin typeface="Times New Roman" pitchFamily="18" charset="0"/>
                <a:cs typeface="Times New Roman" pitchFamily="18" charset="0"/>
              </a:rPr>
              <a:t> Diamonds represents relationship sets</a:t>
            </a:r>
          </a:p>
          <a:p>
            <a:pPr>
              <a:buFont typeface="Wingdings" pitchFamily="2" charset="2"/>
              <a:buChar char="§"/>
            </a:pPr>
            <a:r>
              <a:rPr lang="en-US" dirty="0">
                <a:latin typeface="Times New Roman" pitchFamily="18" charset="0"/>
                <a:cs typeface="Times New Roman" pitchFamily="18" charset="0"/>
              </a:rPr>
              <a:t> Lines links attributes to entity sets and entity sets to relationship sets</a:t>
            </a:r>
          </a:p>
          <a:p>
            <a:pPr lvl="1">
              <a:buFont typeface="Wingdings" pitchFamily="2" charset="2"/>
              <a:buChar char="§"/>
            </a:pPr>
            <a:r>
              <a:rPr lang="en-US" dirty="0">
                <a:latin typeface="Times New Roman" pitchFamily="18" charset="0"/>
                <a:cs typeface="Times New Roman" pitchFamily="18" charset="0"/>
              </a:rPr>
              <a:t>Double lines indicate total participation of an entity in a relationship set</a:t>
            </a:r>
          </a:p>
          <a:p>
            <a:endParaRPr kumimoji="1" lang="en-US" sz="1800" dirty="0">
              <a:latin typeface="Times New Roman" pitchFamily="18" charset="0"/>
              <a:cs typeface="Times New Roman" pitchFamily="18" charset="0"/>
            </a:endParaRPr>
          </a:p>
        </p:txBody>
      </p:sp>
      <p:pic>
        <p:nvPicPr>
          <p:cNvPr id="2" name="Picture 8">
            <a:extLst>
              <a:ext uri="{FF2B5EF4-FFF2-40B4-BE49-F238E27FC236}">
                <a16:creationId xmlns:a16="http://schemas.microsoft.com/office/drawing/2014/main" id="{0C175EF3-37EC-5609-0427-B006FDF23C1C}"/>
              </a:ext>
            </a:extLst>
          </p:cNvPr>
          <p:cNvPicPr>
            <a:picLocks noChangeAspect="1" noChangeArrowheads="1"/>
          </p:cNvPicPr>
          <p:nvPr/>
        </p:nvPicPr>
        <p:blipFill>
          <a:blip r:embed="rId3"/>
          <a:srcRect l="423" t="30743" r="635" b="31024"/>
          <a:stretch>
            <a:fillRect/>
          </a:stretch>
        </p:blipFill>
        <p:spPr bwMode="auto">
          <a:xfrm>
            <a:off x="1166479" y="3895725"/>
            <a:ext cx="7175500" cy="2079625"/>
          </a:xfrm>
          <a:prstGeom prst="rect">
            <a:avLst/>
          </a:prstGeom>
          <a:noFill/>
          <a:ln w="38100" cmpd="dbl">
            <a:solidFill>
              <a:schemeClr val="tx2"/>
            </a:solid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D1B71-A00A-2689-84F0-5DC13DA90B16}"/>
              </a:ext>
            </a:extLst>
          </p:cNvPr>
          <p:cNvSpPr>
            <a:spLocks noGrp="1"/>
          </p:cNvSpPr>
          <p:nvPr>
            <p:ph type="title"/>
          </p:nvPr>
        </p:nvSpPr>
        <p:spPr/>
        <p:txBody>
          <a:bodyPr/>
          <a:lstStyle/>
          <a:p>
            <a:r>
              <a:rPr lang="en-US" dirty="0"/>
              <a:t>Types of Attributes</a:t>
            </a:r>
          </a:p>
        </p:txBody>
      </p:sp>
      <p:pic>
        <p:nvPicPr>
          <p:cNvPr id="3" name="Picture 2" descr="types of attributes">
            <a:extLst>
              <a:ext uri="{FF2B5EF4-FFF2-40B4-BE49-F238E27FC236}">
                <a16:creationId xmlns:a16="http://schemas.microsoft.com/office/drawing/2014/main" id="{699170DC-474C-71D0-85A8-DF72E1867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8077200" cy="3152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309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BFD0-D4A7-910E-E335-1BA38B178641}"/>
              </a:ext>
            </a:extLst>
          </p:cNvPr>
          <p:cNvSpPr>
            <a:spLocks noGrp="1"/>
          </p:cNvSpPr>
          <p:nvPr>
            <p:ph type="title"/>
          </p:nvPr>
        </p:nvSpPr>
        <p:spPr/>
        <p:txBody>
          <a:bodyPr/>
          <a:lstStyle/>
          <a:p>
            <a:r>
              <a:rPr lang="en-US" dirty="0"/>
              <a:t>See the URL</a:t>
            </a:r>
          </a:p>
        </p:txBody>
      </p:sp>
      <p:sp>
        <p:nvSpPr>
          <p:cNvPr id="4" name="TextBox 3">
            <a:extLst>
              <a:ext uri="{FF2B5EF4-FFF2-40B4-BE49-F238E27FC236}">
                <a16:creationId xmlns:a16="http://schemas.microsoft.com/office/drawing/2014/main" id="{63EC9B26-BF43-7810-788A-AF3E91FCA814}"/>
              </a:ext>
            </a:extLst>
          </p:cNvPr>
          <p:cNvSpPr txBox="1"/>
          <p:nvPr/>
        </p:nvSpPr>
        <p:spPr>
          <a:xfrm>
            <a:off x="609600" y="1752600"/>
            <a:ext cx="4572000" cy="369332"/>
          </a:xfrm>
          <a:prstGeom prst="rect">
            <a:avLst/>
          </a:prstGeom>
          <a:noFill/>
        </p:spPr>
        <p:txBody>
          <a:bodyPr wrap="square">
            <a:spAutoFit/>
          </a:bodyPr>
          <a:lstStyle/>
          <a:p>
            <a:pPr algn="l" rtl="0"/>
            <a:r>
              <a:rPr lang="en-US" b="1" i="0" dirty="0">
                <a:solidFill>
                  <a:srgbClr val="000000"/>
                </a:solidFill>
                <a:effectLst/>
                <a:latin typeface="Open Sans" panose="020B0606030504020204" pitchFamily="34" charset="0"/>
              </a:rPr>
              <a:t>1. Simple Attributes</a:t>
            </a:r>
            <a:endParaRPr lang="en-US" b="1" i="0" dirty="0">
              <a:solidFill>
                <a:srgbClr val="231F20"/>
              </a:solidFill>
              <a:effectLst/>
              <a:latin typeface="Open Sans" panose="020B0606030504020204" pitchFamily="34" charset="0"/>
            </a:endParaRPr>
          </a:p>
        </p:txBody>
      </p:sp>
      <p:sp>
        <p:nvSpPr>
          <p:cNvPr id="6" name="TextBox 5">
            <a:hlinkClick r:id="rId2"/>
            <a:extLst>
              <a:ext uri="{FF2B5EF4-FFF2-40B4-BE49-F238E27FC236}">
                <a16:creationId xmlns:a16="http://schemas.microsoft.com/office/drawing/2014/main" id="{D01BDE20-A46E-EB62-3CBD-6D3BAFD41CF2}"/>
              </a:ext>
            </a:extLst>
          </p:cNvPr>
          <p:cNvSpPr txBox="1"/>
          <p:nvPr/>
        </p:nvSpPr>
        <p:spPr>
          <a:xfrm>
            <a:off x="2286000" y="3105835"/>
            <a:ext cx="5410200" cy="369332"/>
          </a:xfrm>
          <a:prstGeom prst="rect">
            <a:avLst/>
          </a:prstGeom>
          <a:noFill/>
        </p:spPr>
        <p:txBody>
          <a:bodyPr wrap="square">
            <a:spAutoFit/>
          </a:bodyPr>
          <a:lstStyle/>
          <a:p>
            <a:r>
              <a:rPr lang="en-US" dirty="0"/>
              <a:t>https://www.javatpoint.com/dbms-er-model-concept</a:t>
            </a:r>
          </a:p>
        </p:txBody>
      </p:sp>
    </p:spTree>
    <p:extLst>
      <p:ext uri="{BB962C8B-B14F-4D97-AF65-F5344CB8AC3E}">
        <p14:creationId xmlns:p14="http://schemas.microsoft.com/office/powerpoint/2010/main" val="3186976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835025" y="103188"/>
            <a:ext cx="7831138" cy="1039812"/>
          </a:xfrm>
        </p:spPr>
        <p:txBody>
          <a:bodyPr>
            <a:noAutofit/>
          </a:bodyPr>
          <a:lstStyle/>
          <a:p>
            <a:pPr>
              <a:defRPr/>
            </a:pPr>
            <a:r>
              <a:rPr lang="en-US" sz="3600" dirty="0">
                <a:latin typeface="Times New Roman" pitchFamily="18" charset="0"/>
                <a:cs typeface="Times New Roman" pitchFamily="18" charset="0"/>
              </a:rPr>
              <a:t>E-R Diagram With Composite, Multivalued, and Derived Attributes</a:t>
            </a:r>
          </a:p>
        </p:txBody>
      </p:sp>
      <p:pic>
        <p:nvPicPr>
          <p:cNvPr id="30723" name="Picture 4"/>
          <p:cNvPicPr>
            <a:picLocks noChangeAspect="1" noChangeArrowheads="1"/>
          </p:cNvPicPr>
          <p:nvPr/>
        </p:nvPicPr>
        <p:blipFill>
          <a:blip r:embed="rId2"/>
          <a:srcRect l="600" t="15976" r="998" b="15976"/>
          <a:stretch>
            <a:fillRect/>
          </a:stretch>
        </p:blipFill>
        <p:spPr bwMode="auto">
          <a:xfrm>
            <a:off x="457200" y="1828800"/>
            <a:ext cx="8242300" cy="4275138"/>
          </a:xfrm>
          <a:prstGeom prst="rect">
            <a:avLst/>
          </a:prstGeom>
          <a:noFill/>
          <a:ln w="38100" cmpd="dbl">
            <a:solidFill>
              <a:schemeClr val="tx2"/>
            </a:solid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026"/>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Relationship Sets with Attributes</a:t>
            </a:r>
          </a:p>
        </p:txBody>
      </p:sp>
      <p:pic>
        <p:nvPicPr>
          <p:cNvPr id="31747" name="Picture 1029"/>
          <p:cNvPicPr>
            <a:picLocks noChangeAspect="1" noChangeArrowheads="1"/>
          </p:cNvPicPr>
          <p:nvPr/>
        </p:nvPicPr>
        <p:blipFill>
          <a:blip r:embed="rId2"/>
          <a:srcRect l="638" t="28896" r="638" b="29178"/>
          <a:stretch>
            <a:fillRect/>
          </a:stretch>
        </p:blipFill>
        <p:spPr bwMode="auto">
          <a:xfrm>
            <a:off x="617538" y="1533525"/>
            <a:ext cx="7999412" cy="2547938"/>
          </a:xfrm>
          <a:prstGeom prst="rect">
            <a:avLst/>
          </a:prstGeom>
          <a:noFill/>
          <a:ln w="38100" cmpd="dbl">
            <a:solidFill>
              <a:schemeClr val="tx2"/>
            </a:solid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Roles</a:t>
            </a:r>
          </a:p>
        </p:txBody>
      </p:sp>
      <p:sp>
        <p:nvSpPr>
          <p:cNvPr id="32771" name="Rectangle 3"/>
          <p:cNvSpPr>
            <a:spLocks noGrp="1" noChangeArrowheads="1"/>
          </p:cNvSpPr>
          <p:nvPr>
            <p:ph type="body" idx="1"/>
          </p:nvPr>
        </p:nvSpPr>
        <p:spPr>
          <a:xfrm>
            <a:off x="855663" y="1222375"/>
            <a:ext cx="7791450" cy="2527300"/>
          </a:xfrm>
        </p:spPr>
        <p:txBody>
          <a:bodyPr/>
          <a:lstStyle/>
          <a:p>
            <a:r>
              <a:rPr kumimoji="0" lang="en-US" sz="1800" dirty="0">
                <a:latin typeface="Times New Roman" pitchFamily="18" charset="0"/>
                <a:cs typeface="Times New Roman" pitchFamily="18" charset="0"/>
              </a:rPr>
              <a:t>Entity sets of a relationship need not be distinct</a:t>
            </a:r>
            <a:endParaRPr lang="en-US" sz="1600" dirty="0">
              <a:latin typeface="Times New Roman" pitchFamily="18" charset="0"/>
              <a:cs typeface="Times New Roman" pitchFamily="18" charset="0"/>
            </a:endParaRPr>
          </a:p>
          <a:p>
            <a:r>
              <a:rPr lang="en-US" sz="1800" dirty="0">
                <a:latin typeface="Times New Roman" pitchFamily="18" charset="0"/>
                <a:cs typeface="Times New Roman" pitchFamily="18" charset="0"/>
              </a:rPr>
              <a:t>The labels “manager” and “worker” are called </a:t>
            </a:r>
            <a:r>
              <a:rPr lang="en-US" sz="1800" b="1" dirty="0">
                <a:solidFill>
                  <a:schemeClr val="tx2"/>
                </a:solidFill>
                <a:latin typeface="Times New Roman" pitchFamily="18" charset="0"/>
                <a:cs typeface="Times New Roman" pitchFamily="18" charset="0"/>
              </a:rPr>
              <a:t>roles</a:t>
            </a:r>
            <a:r>
              <a:rPr lang="en-US" sz="1800" dirty="0">
                <a:latin typeface="Times New Roman" pitchFamily="18" charset="0"/>
                <a:cs typeface="Times New Roman" pitchFamily="18" charset="0"/>
              </a:rPr>
              <a:t>; they specify how employee entities interact via the </a:t>
            </a:r>
            <a:r>
              <a:rPr lang="en-US" sz="1800" dirty="0" err="1">
                <a:latin typeface="Times New Roman" pitchFamily="18" charset="0"/>
                <a:cs typeface="Times New Roman" pitchFamily="18" charset="0"/>
              </a:rPr>
              <a:t>works_for</a:t>
            </a:r>
            <a:r>
              <a:rPr lang="en-US" sz="1800" dirty="0">
                <a:latin typeface="Times New Roman" pitchFamily="18" charset="0"/>
                <a:cs typeface="Times New Roman" pitchFamily="18" charset="0"/>
              </a:rPr>
              <a:t> relationship set.</a:t>
            </a:r>
          </a:p>
          <a:p>
            <a:r>
              <a:rPr lang="en-US" sz="1800" dirty="0">
                <a:latin typeface="Times New Roman" pitchFamily="18" charset="0"/>
                <a:cs typeface="Times New Roman" pitchFamily="18" charset="0"/>
              </a:rPr>
              <a:t>Roles are indicated in E-R diagrams by labeling the lines that connect diamonds to rectangles.</a:t>
            </a:r>
          </a:p>
          <a:p>
            <a:r>
              <a:rPr lang="en-US" sz="1800" dirty="0">
                <a:latin typeface="Times New Roman" pitchFamily="18" charset="0"/>
                <a:cs typeface="Times New Roman" pitchFamily="18" charset="0"/>
              </a:rPr>
              <a:t>Role labels are optional, and are used to clarify semantics of the relationship</a:t>
            </a:r>
          </a:p>
        </p:txBody>
      </p:sp>
      <p:pic>
        <p:nvPicPr>
          <p:cNvPr id="32772" name="Picture 7"/>
          <p:cNvPicPr>
            <a:picLocks noChangeAspect="1" noChangeArrowheads="1"/>
          </p:cNvPicPr>
          <p:nvPr/>
        </p:nvPicPr>
        <p:blipFill>
          <a:blip r:embed="rId2"/>
          <a:srcRect l="578" t="17995" r="578" b="17995"/>
          <a:stretch>
            <a:fillRect/>
          </a:stretch>
        </p:blipFill>
        <p:spPr bwMode="auto">
          <a:xfrm>
            <a:off x="1316038" y="3609975"/>
            <a:ext cx="6046787" cy="2936875"/>
          </a:xfrm>
          <a:prstGeom prst="rect">
            <a:avLst/>
          </a:prstGeom>
          <a:noFill/>
          <a:ln w="38100" cmpd="dbl">
            <a:solidFill>
              <a:schemeClr val="tx2"/>
            </a:solid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Cardinality Constraints</a:t>
            </a:r>
          </a:p>
        </p:txBody>
      </p:sp>
      <p:sp>
        <p:nvSpPr>
          <p:cNvPr id="33795" name="Rectangle 3"/>
          <p:cNvSpPr>
            <a:spLocks noGrp="1" noChangeArrowheads="1"/>
          </p:cNvSpPr>
          <p:nvPr>
            <p:ph type="body" idx="1"/>
          </p:nvPr>
        </p:nvSpPr>
        <p:spPr>
          <a:xfrm>
            <a:off x="855663" y="1222375"/>
            <a:ext cx="7848600" cy="2468563"/>
          </a:xfrm>
        </p:spPr>
        <p:txBody>
          <a:bodyPr/>
          <a:lstStyle/>
          <a:p>
            <a:r>
              <a:rPr lang="en-US" sz="1800" dirty="0">
                <a:latin typeface="Times New Roman" pitchFamily="18" charset="0"/>
                <a:cs typeface="Times New Roman" pitchFamily="18" charset="0"/>
              </a:rPr>
              <a:t>We express cardinality constraints by drawing either a directed line (</a:t>
            </a:r>
            <a:r>
              <a:rPr lang="en-US" sz="1800" dirty="0">
                <a:latin typeface="Times New Roman" pitchFamily="18" charset="0"/>
                <a:cs typeface="Times New Roman" pitchFamily="18" charset="0"/>
                <a:sym typeface="Symbol" pitchFamily="18" charset="2"/>
              </a:rPr>
              <a:t>), signifying “one,” or an undirected line (—), signifying “many,” between the relationship set and the entity set.</a:t>
            </a:r>
          </a:p>
          <a:p>
            <a:r>
              <a:rPr lang="en-US" sz="1800" dirty="0">
                <a:latin typeface="Times New Roman" pitchFamily="18" charset="0"/>
                <a:cs typeface="Times New Roman" pitchFamily="18" charset="0"/>
              </a:rPr>
              <a:t>One-to-one relationship:</a:t>
            </a:r>
          </a:p>
          <a:p>
            <a:pPr lvl="1"/>
            <a:r>
              <a:rPr lang="en-US" sz="1800" dirty="0">
                <a:latin typeface="Times New Roman" pitchFamily="18" charset="0"/>
                <a:cs typeface="Times New Roman" pitchFamily="18" charset="0"/>
              </a:rPr>
              <a:t>A customer is associated with at most one loan via the relationship </a:t>
            </a:r>
            <a:r>
              <a:rPr lang="en-US" sz="1800" i="1" dirty="0">
                <a:latin typeface="Times New Roman" pitchFamily="18" charset="0"/>
                <a:cs typeface="Times New Roman" pitchFamily="18" charset="0"/>
              </a:rPr>
              <a:t>borrower</a:t>
            </a:r>
          </a:p>
          <a:p>
            <a:pPr lvl="1"/>
            <a:r>
              <a:rPr lang="en-US" sz="1800" dirty="0">
                <a:latin typeface="Times New Roman" pitchFamily="18" charset="0"/>
                <a:cs typeface="Times New Roman" pitchFamily="18" charset="0"/>
              </a:rPr>
              <a:t>A loan is associated with at most one customer via </a:t>
            </a:r>
            <a:r>
              <a:rPr lang="en-US" sz="1800" i="1" dirty="0">
                <a:latin typeface="Times New Roman" pitchFamily="18" charset="0"/>
                <a:cs typeface="Times New Roman" pitchFamily="18" charset="0"/>
              </a:rPr>
              <a:t>borrower</a:t>
            </a:r>
            <a:endParaRPr lang="en-US" sz="18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838200" y="228600"/>
            <a:ext cx="8077200" cy="609600"/>
          </a:xfrm>
        </p:spPr>
        <p:txBody>
          <a:bodyPr>
            <a:noAutofit/>
          </a:bodyPr>
          <a:lstStyle/>
          <a:p>
            <a:pPr>
              <a:defRPr/>
            </a:pPr>
            <a:r>
              <a:rPr lang="en-US" sz="3600" dirty="0">
                <a:latin typeface="Times New Roman" pitchFamily="18" charset="0"/>
                <a:cs typeface="Times New Roman" pitchFamily="18" charset="0"/>
              </a:rPr>
              <a:t>One-To-Many Relationship</a:t>
            </a:r>
          </a:p>
        </p:txBody>
      </p:sp>
      <p:sp>
        <p:nvSpPr>
          <p:cNvPr id="34819" name="Rectangle 3"/>
          <p:cNvSpPr>
            <a:spLocks noGrp="1" noChangeArrowheads="1"/>
          </p:cNvSpPr>
          <p:nvPr>
            <p:ph type="body" idx="1"/>
          </p:nvPr>
        </p:nvSpPr>
        <p:spPr>
          <a:xfrm>
            <a:off x="855663" y="1222375"/>
            <a:ext cx="7848600" cy="2324100"/>
          </a:xfrm>
        </p:spPr>
        <p:txBody>
          <a:bodyPr/>
          <a:lstStyle/>
          <a:p>
            <a:r>
              <a:rPr lang="en-US" sz="1800" dirty="0">
                <a:latin typeface="Times New Roman" pitchFamily="18" charset="0"/>
                <a:cs typeface="Times New Roman" pitchFamily="18" charset="0"/>
              </a:rPr>
              <a:t>In the one-to-many relationship a loan is associated with at most one customer via </a:t>
            </a:r>
            <a:r>
              <a:rPr lang="en-US" sz="1800" i="1" dirty="0">
                <a:latin typeface="Times New Roman" pitchFamily="18" charset="0"/>
                <a:cs typeface="Times New Roman" pitchFamily="18" charset="0"/>
              </a:rPr>
              <a:t>borrower</a:t>
            </a:r>
            <a:r>
              <a:rPr lang="en-US" sz="1800" dirty="0">
                <a:latin typeface="Times New Roman" pitchFamily="18" charset="0"/>
                <a:cs typeface="Times New Roman" pitchFamily="18" charset="0"/>
              </a:rPr>
              <a:t>, a customer is associated with several (including 0) loans via </a:t>
            </a:r>
            <a:r>
              <a:rPr lang="en-US" sz="1800" i="1" dirty="0">
                <a:latin typeface="Times New Roman" pitchFamily="18" charset="0"/>
                <a:cs typeface="Times New Roman" pitchFamily="18" charset="0"/>
              </a:rPr>
              <a:t>borrower  </a:t>
            </a:r>
          </a:p>
          <a:p>
            <a:r>
              <a:rPr lang="en-US" sz="1800" i="1" dirty="0">
                <a:latin typeface="Times New Roman" pitchFamily="18" charset="0"/>
                <a:cs typeface="Times New Roman" pitchFamily="18" charset="0"/>
              </a:rPr>
              <a:t>[one customer many loan]</a:t>
            </a:r>
            <a:endParaRPr lang="en-US" sz="1800" dirty="0">
              <a:latin typeface="Times New Roman" pitchFamily="18" charset="0"/>
              <a:cs typeface="Times New Roman" pitchFamily="18" charset="0"/>
            </a:endParaRPr>
          </a:p>
        </p:txBody>
      </p:sp>
      <p:pic>
        <p:nvPicPr>
          <p:cNvPr id="34820" name="Picture 4"/>
          <p:cNvPicPr>
            <a:picLocks noChangeAspect="1" noChangeArrowheads="1"/>
          </p:cNvPicPr>
          <p:nvPr/>
        </p:nvPicPr>
        <p:blipFill>
          <a:blip r:embed="rId2"/>
          <a:srcRect l="16525" t="847" r="16737" b="72424"/>
          <a:stretch>
            <a:fillRect/>
          </a:stretch>
        </p:blipFill>
        <p:spPr bwMode="auto">
          <a:xfrm>
            <a:off x="609600" y="2895600"/>
            <a:ext cx="8037513" cy="2414588"/>
          </a:xfrm>
          <a:prstGeom prst="rect">
            <a:avLst/>
          </a:prstGeom>
          <a:noFill/>
          <a:ln w="38100" cmpd="dbl">
            <a:solidFill>
              <a:schemeClr val="tx2"/>
            </a:solid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12763" y="123824"/>
            <a:ext cx="8113712" cy="714375"/>
          </a:xfrm>
        </p:spPr>
        <p:txBody>
          <a:bodyPr>
            <a:noAutofit/>
          </a:bodyPr>
          <a:lstStyle/>
          <a:p>
            <a:pPr>
              <a:defRPr/>
            </a:pPr>
            <a:r>
              <a:rPr lang="en-US" sz="3600" dirty="0">
                <a:latin typeface="Times New Roman" pitchFamily="18" charset="0"/>
                <a:cs typeface="Times New Roman" pitchFamily="18" charset="0"/>
              </a:rPr>
              <a:t>Many-To-One Relationships</a:t>
            </a:r>
          </a:p>
        </p:txBody>
      </p:sp>
      <p:pic>
        <p:nvPicPr>
          <p:cNvPr id="35843" name="Picture 5"/>
          <p:cNvPicPr>
            <a:picLocks noChangeAspect="1" noChangeArrowheads="1"/>
          </p:cNvPicPr>
          <p:nvPr/>
        </p:nvPicPr>
        <p:blipFill>
          <a:blip r:embed="rId2"/>
          <a:srcRect l="16525" t="31747" r="16737" b="39993"/>
          <a:stretch>
            <a:fillRect/>
          </a:stretch>
        </p:blipFill>
        <p:spPr bwMode="auto">
          <a:xfrm>
            <a:off x="779462" y="2805113"/>
            <a:ext cx="7508875" cy="2384425"/>
          </a:xfrm>
          <a:prstGeom prst="rect">
            <a:avLst/>
          </a:prstGeom>
          <a:noFill/>
          <a:ln w="38100" cmpd="dbl">
            <a:solidFill>
              <a:schemeClr val="tx2"/>
            </a:solidFill>
            <a:miter lim="800000"/>
            <a:headEnd/>
            <a:tailEnd/>
          </a:ln>
        </p:spPr>
      </p:pic>
      <p:sp>
        <p:nvSpPr>
          <p:cNvPr id="35844" name="Rectangle 7"/>
          <p:cNvSpPr>
            <a:spLocks noGrp="1" noChangeArrowheads="1"/>
          </p:cNvSpPr>
          <p:nvPr>
            <p:ph type="body" idx="1"/>
          </p:nvPr>
        </p:nvSpPr>
        <p:spPr>
          <a:xfrm>
            <a:off x="855663" y="1222375"/>
            <a:ext cx="7848600" cy="1638300"/>
          </a:xfrm>
          <a:noFill/>
        </p:spPr>
        <p:txBody>
          <a:bodyPr/>
          <a:lstStyle/>
          <a:p>
            <a:r>
              <a:rPr lang="en-US" sz="1800" dirty="0">
                <a:latin typeface="Times New Roman" pitchFamily="18" charset="0"/>
                <a:cs typeface="Times New Roman" pitchFamily="18" charset="0"/>
              </a:rPr>
              <a:t>In a many-to-one relationship a loan is associated with several (including 0) customers via </a:t>
            </a:r>
            <a:r>
              <a:rPr lang="en-US" sz="1800" i="1" dirty="0">
                <a:latin typeface="Times New Roman" pitchFamily="18" charset="0"/>
                <a:cs typeface="Times New Roman" pitchFamily="18" charset="0"/>
              </a:rPr>
              <a:t>borrower</a:t>
            </a:r>
            <a:r>
              <a:rPr lang="en-US" sz="1800" dirty="0">
                <a:latin typeface="Times New Roman" pitchFamily="18" charset="0"/>
                <a:cs typeface="Times New Roman" pitchFamily="18" charset="0"/>
              </a:rPr>
              <a:t>, a customer is associated with at most one loan via </a:t>
            </a:r>
            <a:r>
              <a:rPr lang="en-US" sz="1800" i="1" dirty="0">
                <a:latin typeface="Times New Roman" pitchFamily="18" charset="0"/>
                <a:cs typeface="Times New Roman" pitchFamily="18" charset="0"/>
              </a:rPr>
              <a:t>borrower</a:t>
            </a:r>
          </a:p>
          <a:p>
            <a:r>
              <a:rPr lang="en-US" sz="1800" i="1" dirty="0">
                <a:latin typeface="Times New Roman" pitchFamily="18" charset="0"/>
                <a:cs typeface="Times New Roman" pitchFamily="18" charset="0"/>
              </a:rPr>
              <a:t>[one loan many customer]</a:t>
            </a:r>
            <a:endParaRPr lang="en-US" sz="18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274638"/>
            <a:ext cx="8229600" cy="715962"/>
          </a:xfrm>
        </p:spPr>
        <p:txBody>
          <a:bodyPr>
            <a:normAutofit/>
          </a:bodyPr>
          <a:lstStyle/>
          <a:p>
            <a:pPr>
              <a:defRPr/>
            </a:pPr>
            <a:r>
              <a:rPr lang="en-US" sz="3600" dirty="0">
                <a:latin typeface="Times New Roman" pitchFamily="18" charset="0"/>
                <a:cs typeface="Times New Roman" pitchFamily="18" charset="0"/>
              </a:rPr>
              <a:t>Many-To-Many Relationship</a:t>
            </a:r>
          </a:p>
        </p:txBody>
      </p:sp>
      <p:sp>
        <p:nvSpPr>
          <p:cNvPr id="36867" name="Rectangle 3"/>
          <p:cNvSpPr>
            <a:spLocks noGrp="1" noChangeArrowheads="1"/>
          </p:cNvSpPr>
          <p:nvPr>
            <p:ph type="body" idx="1"/>
          </p:nvPr>
        </p:nvSpPr>
        <p:spPr>
          <a:xfrm>
            <a:off x="855663" y="1222375"/>
            <a:ext cx="7029450" cy="1546225"/>
          </a:xfrm>
        </p:spPr>
        <p:txBody>
          <a:bodyPr/>
          <a:lstStyle/>
          <a:p>
            <a:r>
              <a:rPr lang="en-US" sz="1800" dirty="0">
                <a:latin typeface="Times New Roman" pitchFamily="18" charset="0"/>
                <a:cs typeface="Times New Roman" pitchFamily="18" charset="0"/>
              </a:rPr>
              <a:t>A customer is associated with several (possibly 0) loans via borrower</a:t>
            </a:r>
          </a:p>
          <a:p>
            <a:r>
              <a:rPr lang="en-US" sz="1800" dirty="0">
                <a:latin typeface="Times New Roman" pitchFamily="18" charset="0"/>
                <a:cs typeface="Times New Roman" pitchFamily="18" charset="0"/>
              </a:rPr>
              <a:t>A loan is associated with several (possibly 0) customers via borrower</a:t>
            </a:r>
          </a:p>
        </p:txBody>
      </p:sp>
      <p:pic>
        <p:nvPicPr>
          <p:cNvPr id="36868" name="Picture 5"/>
          <p:cNvPicPr>
            <a:picLocks noChangeAspect="1" noChangeArrowheads="1"/>
          </p:cNvPicPr>
          <p:nvPr/>
        </p:nvPicPr>
        <p:blipFill>
          <a:blip r:embed="rId2"/>
          <a:srcRect l="1064" t="30733" r="1064" b="30733"/>
          <a:stretch>
            <a:fillRect/>
          </a:stretch>
        </p:blipFill>
        <p:spPr bwMode="auto">
          <a:xfrm>
            <a:off x="855663" y="2909888"/>
            <a:ext cx="7723187" cy="2281237"/>
          </a:xfrm>
          <a:prstGeom prst="rect">
            <a:avLst/>
          </a:prstGeom>
          <a:noFill/>
          <a:ln w="38100" cmpd="dbl">
            <a:solidFill>
              <a:schemeClr val="tx2"/>
            </a:solid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838200" y="298450"/>
            <a:ext cx="7886700" cy="571500"/>
          </a:xfrm>
        </p:spPr>
        <p:txBody>
          <a:bodyPr/>
          <a:lstStyle/>
          <a:p>
            <a:pPr>
              <a:defRPr/>
            </a:pPr>
            <a:r>
              <a:rPr lang="en-US" sz="2800" dirty="0">
                <a:latin typeface="Times New Roman" pitchFamily="18" charset="0"/>
                <a:cs typeface="Times New Roman" pitchFamily="18" charset="0"/>
              </a:rPr>
              <a:t>Participation of an Entity Set in a Relationship Set</a:t>
            </a:r>
          </a:p>
        </p:txBody>
      </p:sp>
      <p:sp>
        <p:nvSpPr>
          <p:cNvPr id="37891" name="Rectangle 4"/>
          <p:cNvSpPr>
            <a:spLocks noChangeArrowheads="1"/>
          </p:cNvSpPr>
          <p:nvPr/>
        </p:nvSpPr>
        <p:spPr bwMode="auto">
          <a:xfrm>
            <a:off x="855663" y="1222375"/>
            <a:ext cx="7754937" cy="2524125"/>
          </a:xfrm>
          <a:prstGeom prst="rect">
            <a:avLst/>
          </a:prstGeom>
          <a:noFill/>
          <a:ln w="9525">
            <a:noFill/>
            <a:miter lim="800000"/>
            <a:headEnd/>
            <a:tailEnd/>
          </a:ln>
        </p:spPr>
        <p:txBody>
          <a:bodyPr/>
          <a:lstStyle/>
          <a:p>
            <a:pPr marL="342900" indent="-342900" algn="just">
              <a:spcBef>
                <a:spcPct val="35000"/>
              </a:spcBef>
              <a:buClr>
                <a:schemeClr val="tx2"/>
              </a:buClr>
              <a:buSzPct val="90000"/>
              <a:buFont typeface="Monotype Sorts" pitchFamily="2" charset="2"/>
              <a:buChar char="n"/>
            </a:pPr>
            <a:r>
              <a:rPr kumimoji="1" lang="en-US" sz="1800" dirty="0">
                <a:latin typeface="Times New Roman" pitchFamily="18" charset="0"/>
                <a:cs typeface="Times New Roman" pitchFamily="18" charset="0"/>
              </a:rPr>
              <a:t>Total participation (indicated by double line):  every entity in the entity set participates in at least one relationship in the relationship set</a:t>
            </a:r>
          </a:p>
          <a:p>
            <a:pPr marL="742950" lvl="1" indent="-285750" algn="just">
              <a:spcBef>
                <a:spcPct val="35000"/>
              </a:spcBef>
              <a:buClr>
                <a:schemeClr val="hlink"/>
              </a:buClr>
              <a:buSzPct val="80000"/>
              <a:buFont typeface="Monotype Sorts" pitchFamily="2" charset="2"/>
              <a:buChar char="l"/>
            </a:pPr>
            <a:r>
              <a:rPr kumimoji="1" lang="en-US" sz="1800" dirty="0">
                <a:latin typeface="Times New Roman" pitchFamily="18" charset="0"/>
                <a:cs typeface="Times New Roman" pitchFamily="18" charset="0"/>
              </a:rPr>
              <a:t>E.g. participation of loan in borrower is total that means every loan must have a customer associated to it via borrower</a:t>
            </a:r>
          </a:p>
          <a:p>
            <a:pPr marL="342900" indent="-342900" algn="just">
              <a:spcBef>
                <a:spcPct val="35000"/>
              </a:spcBef>
              <a:buClr>
                <a:schemeClr val="tx2"/>
              </a:buClr>
              <a:buSzPct val="90000"/>
              <a:buFont typeface="Monotype Sorts" pitchFamily="2" charset="2"/>
              <a:buChar char="n"/>
            </a:pPr>
            <a:r>
              <a:rPr kumimoji="1" lang="en-US" sz="1800" dirty="0">
                <a:latin typeface="Times New Roman" pitchFamily="18" charset="0"/>
                <a:cs typeface="Times New Roman" pitchFamily="18" charset="0"/>
              </a:rPr>
              <a:t>Partial participation:  some entities may not participate in any relationship in the relationship set</a:t>
            </a:r>
          </a:p>
          <a:p>
            <a:pPr marL="742950" lvl="1" indent="-285750" algn="just">
              <a:spcBef>
                <a:spcPct val="35000"/>
              </a:spcBef>
              <a:buClr>
                <a:schemeClr val="hlink"/>
              </a:buClr>
              <a:buSzPct val="80000"/>
              <a:buFont typeface="Monotype Sorts" pitchFamily="2" charset="2"/>
              <a:buChar char="l"/>
            </a:pPr>
            <a:r>
              <a:rPr kumimoji="1" lang="en-US" sz="1800" dirty="0">
                <a:latin typeface="Times New Roman" pitchFamily="18" charset="0"/>
                <a:cs typeface="Times New Roman" pitchFamily="18" charset="0"/>
              </a:rPr>
              <a:t>Example: participation of customer in borrower is partial</a:t>
            </a:r>
          </a:p>
        </p:txBody>
      </p:sp>
      <p:pic>
        <p:nvPicPr>
          <p:cNvPr id="37892" name="Picture 5"/>
          <p:cNvPicPr>
            <a:picLocks noChangeAspect="1" noChangeArrowheads="1"/>
          </p:cNvPicPr>
          <p:nvPr/>
        </p:nvPicPr>
        <p:blipFill>
          <a:blip r:embed="rId2"/>
          <a:srcRect l="385" t="34634" r="577" b="34634"/>
          <a:stretch>
            <a:fillRect/>
          </a:stretch>
        </p:blipFill>
        <p:spPr bwMode="auto">
          <a:xfrm>
            <a:off x="603250" y="3778250"/>
            <a:ext cx="8104188" cy="1885950"/>
          </a:xfrm>
          <a:prstGeom prst="rect">
            <a:avLst/>
          </a:prstGeom>
          <a:noFill/>
          <a:ln w="38100" cmpd="dbl">
            <a:solidFill>
              <a:schemeClr val="tx2"/>
            </a:solid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866775" y="228600"/>
            <a:ext cx="7972425" cy="990600"/>
          </a:xfrm>
        </p:spPr>
        <p:txBody>
          <a:bodyPr>
            <a:normAutofit/>
          </a:bodyPr>
          <a:lstStyle/>
          <a:p>
            <a:pPr>
              <a:defRPr/>
            </a:pPr>
            <a:r>
              <a:rPr lang="en-US" sz="2800" dirty="0">
                <a:latin typeface="Times New Roman" pitchFamily="18" charset="0"/>
                <a:cs typeface="Times New Roman" pitchFamily="18" charset="0"/>
              </a:rPr>
              <a:t>Alternative Notation for Cardinality Limits</a:t>
            </a:r>
          </a:p>
        </p:txBody>
      </p:sp>
      <p:sp>
        <p:nvSpPr>
          <p:cNvPr id="38915" name="Rectangle 4"/>
          <p:cNvSpPr>
            <a:spLocks noChangeArrowheads="1"/>
          </p:cNvSpPr>
          <p:nvPr/>
        </p:nvSpPr>
        <p:spPr bwMode="auto">
          <a:xfrm>
            <a:off x="855663" y="1222375"/>
            <a:ext cx="7689850" cy="1912938"/>
          </a:xfrm>
          <a:prstGeom prst="rect">
            <a:avLst/>
          </a:prstGeom>
          <a:noFill/>
          <a:ln w="9525">
            <a:noFill/>
            <a:miter lim="800000"/>
            <a:headEnd/>
            <a:tailEnd/>
          </a:ln>
        </p:spPr>
        <p:txBody>
          <a:bodyPr/>
          <a:lstStyle/>
          <a:p>
            <a:pPr algn="just">
              <a:buFont typeface="Wingdings" pitchFamily="2" charset="2"/>
              <a:buChar char="§"/>
            </a:pPr>
            <a:r>
              <a:rPr kumimoji="1" lang="en-US" sz="1800" dirty="0">
                <a:latin typeface="Times New Roman" pitchFamily="18" charset="0"/>
                <a:cs typeface="Times New Roman" pitchFamily="18" charset="0"/>
              </a:rPr>
              <a:t> Cardinality limits can also express participation constraints </a:t>
            </a:r>
            <a:r>
              <a:rPr lang="en-US" dirty="0">
                <a:latin typeface="Times New Roman" pitchFamily="18" charset="0"/>
                <a:cs typeface="Times New Roman" pitchFamily="18" charset="0"/>
              </a:rPr>
              <a:t>in </a:t>
            </a:r>
            <a:r>
              <a:rPr lang="en-US" i="1" dirty="0">
                <a:latin typeface="Times New Roman" pitchFamily="18" charset="0"/>
                <a:cs typeface="Times New Roman" pitchFamily="18" charset="0"/>
              </a:rPr>
              <a:t>l..h </a:t>
            </a:r>
            <a:r>
              <a:rPr lang="en-US" dirty="0">
                <a:latin typeface="Times New Roman" pitchFamily="18" charset="0"/>
                <a:cs typeface="Times New Roman" pitchFamily="18" charset="0"/>
              </a:rPr>
              <a:t>form where </a:t>
            </a:r>
            <a:r>
              <a:rPr lang="en-US" i="1" dirty="0">
                <a:latin typeface="Times New Roman" pitchFamily="18" charset="0"/>
                <a:cs typeface="Times New Roman" pitchFamily="18" charset="0"/>
              </a:rPr>
              <a:t>l</a:t>
            </a:r>
            <a:r>
              <a:rPr lang="en-US" dirty="0">
                <a:latin typeface="Times New Roman" pitchFamily="18" charset="0"/>
                <a:cs typeface="Times New Roman" pitchFamily="18" charset="0"/>
              </a:rPr>
              <a:t> is the minimum and </a:t>
            </a:r>
            <a:r>
              <a:rPr lang="en-US" i="1" dirty="0">
                <a:latin typeface="Times New Roman" pitchFamily="18" charset="0"/>
                <a:cs typeface="Times New Roman" pitchFamily="18" charset="0"/>
              </a:rPr>
              <a:t>h </a:t>
            </a:r>
            <a:r>
              <a:rPr lang="en-US" dirty="0">
                <a:latin typeface="Times New Roman" pitchFamily="18" charset="0"/>
                <a:cs typeface="Times New Roman" pitchFamily="18" charset="0"/>
              </a:rPr>
              <a:t>the maximum cardinality. </a:t>
            </a:r>
          </a:p>
          <a:p>
            <a:pPr algn="just">
              <a:buFont typeface="Wingdings" pitchFamily="2" charset="2"/>
              <a:buChar char="§"/>
            </a:pPr>
            <a:r>
              <a:rPr lang="en-US" dirty="0">
                <a:latin typeface="Times New Roman" pitchFamily="18" charset="0"/>
                <a:cs typeface="Times New Roman" pitchFamily="18" charset="0"/>
              </a:rPr>
              <a:t> A minimum value of 1 indicates total participation of the entity set in the relationship set. </a:t>
            </a:r>
          </a:p>
          <a:p>
            <a:pPr algn="just">
              <a:buFont typeface="Wingdings" pitchFamily="2" charset="2"/>
              <a:buChar char="§"/>
            </a:pPr>
            <a:r>
              <a:rPr lang="en-US" dirty="0">
                <a:latin typeface="Times New Roman" pitchFamily="18" charset="0"/>
                <a:cs typeface="Times New Roman" pitchFamily="18" charset="0"/>
              </a:rPr>
              <a:t>A maximum value of 1 indicates that the entity participates in at most one relationship, while a maximum value ∗ indicates no limit.</a:t>
            </a:r>
          </a:p>
          <a:p>
            <a:pPr algn="just"/>
            <a:endParaRPr lang="en-US" b="1" i="1" dirty="0">
              <a:latin typeface="Times New Roman" pitchFamily="18" charset="0"/>
              <a:cs typeface="Times New Roman" pitchFamily="18" charset="0"/>
            </a:endParaRPr>
          </a:p>
          <a:p>
            <a:pPr algn="just">
              <a:buFont typeface="Wingdings" pitchFamily="2" charset="2"/>
              <a:buChar char="§"/>
            </a:pPr>
            <a:r>
              <a:rPr kumimoji="1" lang="en-US" sz="1800" b="1" i="1" dirty="0">
                <a:latin typeface="Times New Roman" pitchFamily="18" charset="0"/>
                <a:cs typeface="Times New Roman" pitchFamily="18" charset="0"/>
              </a:rPr>
              <a:t>Practice from book</a:t>
            </a:r>
          </a:p>
        </p:txBody>
      </p:sp>
      <p:pic>
        <p:nvPicPr>
          <p:cNvPr id="38916" name="Picture 5"/>
          <p:cNvPicPr>
            <a:picLocks noChangeAspect="1" noChangeArrowheads="1"/>
          </p:cNvPicPr>
          <p:nvPr/>
        </p:nvPicPr>
        <p:blipFill>
          <a:blip r:embed="rId2"/>
          <a:srcRect l="435" t="30725" r="435" b="31015"/>
          <a:stretch>
            <a:fillRect/>
          </a:stretch>
        </p:blipFill>
        <p:spPr bwMode="auto">
          <a:xfrm>
            <a:off x="990600" y="3657600"/>
            <a:ext cx="7354888" cy="2128837"/>
          </a:xfrm>
          <a:prstGeom prst="rect">
            <a:avLst/>
          </a:prstGeom>
          <a:noFill/>
          <a:ln w="38100" cmpd="dbl">
            <a:solidFill>
              <a:schemeClr val="tx2"/>
            </a:solid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990600" y="304800"/>
            <a:ext cx="7477125" cy="923926"/>
          </a:xfrm>
        </p:spPr>
        <p:txBody>
          <a:bodyPr>
            <a:normAutofit/>
          </a:bodyPr>
          <a:lstStyle/>
          <a:p>
            <a:pPr>
              <a:defRPr/>
            </a:pPr>
            <a:r>
              <a:rPr lang="en-US" sz="2800" dirty="0">
                <a:latin typeface="Times New Roman" pitchFamily="18" charset="0"/>
                <a:cs typeface="Times New Roman" pitchFamily="18" charset="0"/>
              </a:rPr>
              <a:t>E-R Diagram with a Ternary Relationship</a:t>
            </a:r>
          </a:p>
        </p:txBody>
      </p:sp>
      <p:pic>
        <p:nvPicPr>
          <p:cNvPr id="39939" name="Picture 4"/>
          <p:cNvPicPr>
            <a:picLocks noChangeAspect="1" noChangeArrowheads="1"/>
          </p:cNvPicPr>
          <p:nvPr/>
        </p:nvPicPr>
        <p:blipFill>
          <a:blip r:embed="rId2"/>
          <a:srcRect l="755" t="25693" r="378" b="25441"/>
          <a:stretch>
            <a:fillRect/>
          </a:stretch>
        </p:blipFill>
        <p:spPr bwMode="auto">
          <a:xfrm>
            <a:off x="685800" y="1752600"/>
            <a:ext cx="7477125" cy="2771775"/>
          </a:xfrm>
          <a:prstGeom prst="rect">
            <a:avLst/>
          </a:prstGeom>
          <a:noFill/>
          <a:ln w="38100" cmpd="dbl">
            <a:solidFill>
              <a:schemeClr val="tx2"/>
            </a:solid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274638"/>
            <a:ext cx="8229600" cy="944562"/>
          </a:xfrm>
        </p:spPr>
        <p:txBody>
          <a:bodyPr>
            <a:normAutofit/>
          </a:bodyPr>
          <a:lstStyle/>
          <a:p>
            <a:pPr>
              <a:defRPr/>
            </a:pPr>
            <a:r>
              <a:rPr lang="en-US" sz="3600" dirty="0">
                <a:latin typeface="Times New Roman" pitchFamily="18" charset="0"/>
                <a:cs typeface="Times New Roman" pitchFamily="18" charset="0"/>
              </a:rPr>
              <a:t>Weak Entity Sets</a:t>
            </a:r>
          </a:p>
        </p:txBody>
      </p:sp>
      <p:sp>
        <p:nvSpPr>
          <p:cNvPr id="48131" name="Rectangle 3"/>
          <p:cNvSpPr>
            <a:spLocks noGrp="1" noChangeArrowheads="1"/>
          </p:cNvSpPr>
          <p:nvPr>
            <p:ph type="body" idx="1"/>
          </p:nvPr>
        </p:nvSpPr>
        <p:spPr>
          <a:xfrm>
            <a:off x="855663" y="1222375"/>
            <a:ext cx="7848600" cy="4876800"/>
          </a:xfrm>
        </p:spPr>
        <p:txBody>
          <a:bodyPr/>
          <a:lstStyle/>
          <a:p>
            <a:r>
              <a:rPr lang="en-US" sz="1800" dirty="0">
                <a:latin typeface="Times New Roman" pitchFamily="18" charset="0"/>
                <a:cs typeface="Times New Roman" pitchFamily="18" charset="0"/>
              </a:rPr>
              <a:t>An entity set that does not have a primary key is referred to as a </a:t>
            </a:r>
            <a:r>
              <a:rPr lang="en-US" sz="1800" b="1" dirty="0">
                <a:solidFill>
                  <a:schemeClr val="tx2"/>
                </a:solidFill>
                <a:latin typeface="Times New Roman" pitchFamily="18" charset="0"/>
                <a:cs typeface="Times New Roman" pitchFamily="18" charset="0"/>
              </a:rPr>
              <a:t>weak entity set</a:t>
            </a:r>
            <a:r>
              <a:rPr lang="en-US" sz="1800" dirty="0">
                <a:latin typeface="Times New Roman" pitchFamily="18" charset="0"/>
                <a:cs typeface="Times New Roman" pitchFamily="18" charset="0"/>
              </a:rPr>
              <a:t>.</a:t>
            </a:r>
          </a:p>
          <a:p>
            <a:r>
              <a:rPr lang="en-US" sz="1800" dirty="0">
                <a:latin typeface="Times New Roman" pitchFamily="18" charset="0"/>
                <a:cs typeface="Times New Roman" pitchFamily="18" charset="0"/>
              </a:rPr>
              <a:t>The existence of a weak entity set depends on the existence of a </a:t>
            </a:r>
            <a:r>
              <a:rPr lang="en-US" sz="1800" b="1" dirty="0">
                <a:solidFill>
                  <a:schemeClr val="tx2"/>
                </a:solidFill>
                <a:latin typeface="Times New Roman" pitchFamily="18" charset="0"/>
                <a:cs typeface="Times New Roman" pitchFamily="18" charset="0"/>
              </a:rPr>
              <a:t>identifying entity set</a:t>
            </a:r>
          </a:p>
          <a:p>
            <a:pPr lvl="1"/>
            <a:r>
              <a:rPr lang="en-US" sz="1800" dirty="0">
                <a:latin typeface="Times New Roman" pitchFamily="18" charset="0"/>
                <a:cs typeface="Times New Roman" pitchFamily="18" charset="0"/>
              </a:rPr>
              <a:t> it must relate to the identifying entity set via a total, one-to-many relationship set from the identifying to the weak entity set</a:t>
            </a:r>
          </a:p>
          <a:p>
            <a:pPr lvl="1"/>
            <a:r>
              <a:rPr lang="en-US" sz="1800" dirty="0">
                <a:solidFill>
                  <a:schemeClr val="tx2"/>
                </a:solidFill>
                <a:latin typeface="Times New Roman" pitchFamily="18" charset="0"/>
                <a:cs typeface="Times New Roman" pitchFamily="18" charset="0"/>
              </a:rPr>
              <a:t>Identifying relationship</a:t>
            </a:r>
            <a:r>
              <a:rPr lang="en-US" sz="1800" dirty="0">
                <a:latin typeface="Times New Roman" pitchFamily="18" charset="0"/>
                <a:cs typeface="Times New Roman" pitchFamily="18" charset="0"/>
              </a:rPr>
              <a:t> depicted using a double diamond</a:t>
            </a:r>
          </a:p>
          <a:p>
            <a:r>
              <a:rPr lang="en-US" sz="1800" dirty="0">
                <a:latin typeface="Times New Roman" pitchFamily="18" charset="0"/>
                <a:cs typeface="Times New Roman" pitchFamily="18" charset="0"/>
              </a:rPr>
              <a:t>The </a:t>
            </a:r>
            <a:r>
              <a:rPr lang="en-US" sz="1800" b="1" dirty="0">
                <a:solidFill>
                  <a:schemeClr val="tx2"/>
                </a:solidFill>
                <a:latin typeface="Times New Roman" pitchFamily="18" charset="0"/>
                <a:cs typeface="Times New Roman" pitchFamily="18" charset="0"/>
              </a:rPr>
              <a:t>discriminator</a:t>
            </a:r>
            <a:r>
              <a:rPr lang="en-US" sz="1800" b="1" i="1" dirty="0">
                <a:solidFill>
                  <a:schemeClr val="tx2"/>
                </a:solidFill>
                <a:latin typeface="Times New Roman" pitchFamily="18" charset="0"/>
                <a:cs typeface="Times New Roman" pitchFamily="18" charset="0"/>
              </a:rPr>
              <a:t> </a:t>
            </a:r>
            <a:r>
              <a:rPr lang="en-US" sz="1800" dirty="0">
                <a:latin typeface="Times New Roman" pitchFamily="18" charset="0"/>
                <a:cs typeface="Times New Roman" pitchFamily="18" charset="0"/>
              </a:rPr>
              <a:t>(</a:t>
            </a:r>
            <a:r>
              <a:rPr lang="en-US" sz="1800" i="1" dirty="0">
                <a:latin typeface="Times New Roman" pitchFamily="18" charset="0"/>
                <a:cs typeface="Times New Roman" pitchFamily="18" charset="0"/>
              </a:rPr>
              <a:t>or partial key)</a:t>
            </a:r>
            <a:r>
              <a:rPr lang="en-US" sz="1800" dirty="0">
                <a:latin typeface="Times New Roman" pitchFamily="18" charset="0"/>
                <a:cs typeface="Times New Roman" pitchFamily="18" charset="0"/>
              </a:rPr>
              <a:t> of a weak entity set is the set of attributes that distinguishes among all the entities of a weak entity set.</a:t>
            </a:r>
          </a:p>
          <a:p>
            <a:r>
              <a:rPr lang="en-US" sz="1800" dirty="0">
                <a:latin typeface="Times New Roman" pitchFamily="18" charset="0"/>
                <a:cs typeface="Times New Roman" pitchFamily="18" charset="0"/>
              </a:rPr>
              <a:t>The primary key of a weak entity set is formed by the primary key of the strong entity set on which the weak entity set is existence dependent, plus the weak entity set’s discriminator.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a:xfrm>
            <a:off x="855663" y="1222375"/>
            <a:ext cx="7478712" cy="2095500"/>
          </a:xfrm>
        </p:spPr>
        <p:txBody>
          <a:bodyPr/>
          <a:lstStyle/>
          <a:p>
            <a:r>
              <a:rPr lang="en-US" sz="1800" dirty="0">
                <a:latin typeface="Times New Roman" pitchFamily="18" charset="0"/>
                <a:cs typeface="Times New Roman" pitchFamily="18" charset="0"/>
              </a:rPr>
              <a:t>We depict a weak entity set by double rectangles.</a:t>
            </a:r>
          </a:p>
          <a:p>
            <a:r>
              <a:rPr lang="en-US" sz="1800" dirty="0">
                <a:latin typeface="Times New Roman" pitchFamily="18" charset="0"/>
                <a:cs typeface="Times New Roman" pitchFamily="18" charset="0"/>
              </a:rPr>
              <a:t>We underline the discriminator of a weak entity set  with a dashed line.</a:t>
            </a:r>
          </a:p>
          <a:p>
            <a:r>
              <a:rPr lang="en-US" sz="1800" dirty="0" err="1">
                <a:latin typeface="Times New Roman" pitchFamily="18" charset="0"/>
                <a:cs typeface="Times New Roman" pitchFamily="18" charset="0"/>
              </a:rPr>
              <a:t>payment_number</a:t>
            </a:r>
            <a:r>
              <a:rPr lang="en-US" sz="1800" dirty="0">
                <a:latin typeface="Times New Roman" pitchFamily="18" charset="0"/>
                <a:cs typeface="Times New Roman" pitchFamily="18" charset="0"/>
              </a:rPr>
              <a:t> – discriminator of the </a:t>
            </a:r>
            <a:r>
              <a:rPr lang="en-US" sz="1800" i="1" dirty="0">
                <a:latin typeface="Times New Roman" pitchFamily="18" charset="0"/>
                <a:cs typeface="Times New Roman" pitchFamily="18" charset="0"/>
              </a:rPr>
              <a:t>payment </a:t>
            </a:r>
            <a:r>
              <a:rPr lang="en-US" sz="1800" dirty="0">
                <a:latin typeface="Times New Roman" pitchFamily="18" charset="0"/>
                <a:cs typeface="Times New Roman" pitchFamily="18" charset="0"/>
              </a:rPr>
              <a:t>entity set </a:t>
            </a:r>
          </a:p>
          <a:p>
            <a:r>
              <a:rPr lang="en-US" sz="1800" dirty="0">
                <a:latin typeface="Times New Roman" pitchFamily="18" charset="0"/>
                <a:cs typeface="Times New Roman" pitchFamily="18" charset="0"/>
              </a:rPr>
              <a:t>Primary key for </a:t>
            </a:r>
            <a:r>
              <a:rPr lang="en-US" sz="1800" i="1" dirty="0">
                <a:latin typeface="Times New Roman" pitchFamily="18" charset="0"/>
                <a:cs typeface="Times New Roman" pitchFamily="18" charset="0"/>
              </a:rPr>
              <a:t>payment </a:t>
            </a:r>
            <a:r>
              <a:rPr lang="en-US" sz="1800" dirty="0">
                <a:latin typeface="Times New Roman" pitchFamily="18" charset="0"/>
                <a:cs typeface="Times New Roman" pitchFamily="18" charset="0"/>
              </a:rPr>
              <a:t>– (</a:t>
            </a:r>
            <a:r>
              <a:rPr lang="en-US" sz="1800" i="1" dirty="0" err="1">
                <a:latin typeface="Times New Roman" pitchFamily="18" charset="0"/>
                <a:cs typeface="Times New Roman" pitchFamily="18" charset="0"/>
              </a:rPr>
              <a:t>loan_number</a:t>
            </a:r>
            <a:r>
              <a:rPr lang="en-US" sz="1800" i="1" dirty="0">
                <a:latin typeface="Times New Roman" pitchFamily="18" charset="0"/>
                <a:cs typeface="Times New Roman" pitchFamily="18" charset="0"/>
              </a:rPr>
              <a:t>, </a:t>
            </a:r>
            <a:r>
              <a:rPr lang="en-US" sz="1800" i="1" dirty="0" err="1">
                <a:latin typeface="Times New Roman" pitchFamily="18" charset="0"/>
                <a:cs typeface="Times New Roman" pitchFamily="18" charset="0"/>
              </a:rPr>
              <a:t>payment_number</a:t>
            </a:r>
            <a:r>
              <a:rPr lang="en-US" sz="1800" dirty="0">
                <a:latin typeface="Times New Roman" pitchFamily="18" charset="0"/>
                <a:cs typeface="Times New Roman" pitchFamily="18" charset="0"/>
              </a:rPr>
              <a:t>) </a:t>
            </a:r>
          </a:p>
        </p:txBody>
      </p:sp>
      <p:pic>
        <p:nvPicPr>
          <p:cNvPr id="49156" name="Picture 6"/>
          <p:cNvPicPr>
            <a:picLocks noChangeAspect="1" noChangeArrowheads="1"/>
          </p:cNvPicPr>
          <p:nvPr/>
        </p:nvPicPr>
        <p:blipFill>
          <a:blip r:embed="rId2"/>
          <a:srcRect l="555" t="28395" r="555" b="28149"/>
          <a:stretch>
            <a:fillRect/>
          </a:stretch>
        </p:blipFill>
        <p:spPr bwMode="auto">
          <a:xfrm>
            <a:off x="914400" y="3200400"/>
            <a:ext cx="7629525" cy="2514600"/>
          </a:xfrm>
          <a:prstGeom prst="rect">
            <a:avLst/>
          </a:prstGeom>
          <a:noFill/>
          <a:ln w="38100" cmpd="dbl">
            <a:solidFill>
              <a:schemeClr val="tx2"/>
            </a:solidFill>
            <a:miter lim="800000"/>
            <a:headEnd/>
            <a:tailEnd/>
          </a:ln>
        </p:spPr>
      </p:pic>
      <p:sp>
        <p:nvSpPr>
          <p:cNvPr id="6" name="Rectangle 2"/>
          <p:cNvSpPr>
            <a:spLocks noGrp="1" noChangeArrowheads="1"/>
          </p:cNvSpPr>
          <p:nvPr>
            <p:ph type="title"/>
          </p:nvPr>
        </p:nvSpPr>
        <p:spPr>
          <a:xfrm>
            <a:off x="457200" y="274638"/>
            <a:ext cx="8229600" cy="944562"/>
          </a:xfrm>
        </p:spPr>
        <p:txBody>
          <a:bodyPr>
            <a:normAutofit/>
          </a:bodyPr>
          <a:lstStyle/>
          <a:p>
            <a:pPr>
              <a:defRPr/>
            </a:pPr>
            <a:r>
              <a:rPr lang="en-US" sz="3600" dirty="0">
                <a:latin typeface="Times New Roman" pitchFamily="18" charset="0"/>
                <a:cs typeface="Times New Roman" pitchFamily="18" charset="0"/>
              </a:rPr>
              <a:t>Weak Entity Sets (cont.)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body" idx="1"/>
          </p:nvPr>
        </p:nvSpPr>
        <p:spPr>
          <a:xfrm>
            <a:off x="855663" y="1222375"/>
            <a:ext cx="7385050" cy="3910013"/>
          </a:xfrm>
        </p:spPr>
        <p:txBody>
          <a:bodyPr/>
          <a:lstStyle/>
          <a:p>
            <a:r>
              <a:rPr lang="en-US" sz="1800" dirty="0">
                <a:latin typeface="Times New Roman" pitchFamily="18" charset="0"/>
                <a:cs typeface="Times New Roman" pitchFamily="18" charset="0"/>
              </a:rPr>
              <a:t>Note: the primary key of the strong entity set is not explicitly stored with the weak entity set, since it is implicit in the identifying relationship.</a:t>
            </a:r>
          </a:p>
          <a:p>
            <a:r>
              <a:rPr lang="en-US" sz="1800" dirty="0">
                <a:latin typeface="Times New Roman" pitchFamily="18" charset="0"/>
                <a:cs typeface="Times New Roman" pitchFamily="18" charset="0"/>
              </a:rPr>
              <a:t>If </a:t>
            </a:r>
            <a:r>
              <a:rPr lang="en-US" sz="1800" i="1" dirty="0" err="1">
                <a:latin typeface="Times New Roman" pitchFamily="18" charset="0"/>
                <a:cs typeface="Times New Roman" pitchFamily="18" charset="0"/>
              </a:rPr>
              <a:t>loan_number</a:t>
            </a:r>
            <a:r>
              <a:rPr lang="en-US" sz="1800" dirty="0">
                <a:latin typeface="Times New Roman" pitchFamily="18" charset="0"/>
                <a:cs typeface="Times New Roman" pitchFamily="18" charset="0"/>
              </a:rPr>
              <a:t> were explicitly stored, </a:t>
            </a:r>
            <a:r>
              <a:rPr lang="en-US" sz="1800" i="1" dirty="0">
                <a:latin typeface="Times New Roman" pitchFamily="18" charset="0"/>
                <a:cs typeface="Times New Roman" pitchFamily="18" charset="0"/>
              </a:rPr>
              <a:t>payment</a:t>
            </a:r>
            <a:r>
              <a:rPr lang="en-US" sz="1800" dirty="0">
                <a:latin typeface="Times New Roman" pitchFamily="18" charset="0"/>
                <a:cs typeface="Times New Roman" pitchFamily="18" charset="0"/>
              </a:rPr>
              <a:t> could be made a strong entity, but then the relationship between </a:t>
            </a:r>
            <a:r>
              <a:rPr lang="en-US" sz="1800" i="1" dirty="0">
                <a:latin typeface="Times New Roman" pitchFamily="18" charset="0"/>
                <a:cs typeface="Times New Roman" pitchFamily="18" charset="0"/>
              </a:rPr>
              <a:t>payment</a:t>
            </a:r>
            <a:r>
              <a:rPr lang="en-US" sz="1800" dirty="0">
                <a:latin typeface="Times New Roman" pitchFamily="18" charset="0"/>
                <a:cs typeface="Times New Roman" pitchFamily="18" charset="0"/>
              </a:rPr>
              <a:t> and </a:t>
            </a:r>
            <a:r>
              <a:rPr lang="en-US" sz="1800" i="1" dirty="0">
                <a:latin typeface="Times New Roman" pitchFamily="18" charset="0"/>
                <a:cs typeface="Times New Roman" pitchFamily="18" charset="0"/>
              </a:rPr>
              <a:t>loan</a:t>
            </a:r>
            <a:r>
              <a:rPr lang="en-US" sz="1800" dirty="0">
                <a:latin typeface="Times New Roman" pitchFamily="18" charset="0"/>
                <a:cs typeface="Times New Roman" pitchFamily="18" charset="0"/>
              </a:rPr>
              <a:t> would be duplicated by an implicit relationship defined by the attribute </a:t>
            </a:r>
            <a:r>
              <a:rPr lang="en-US" sz="1800" i="1" dirty="0" err="1">
                <a:latin typeface="Times New Roman" pitchFamily="18" charset="0"/>
                <a:cs typeface="Times New Roman" pitchFamily="18" charset="0"/>
              </a:rPr>
              <a:t>loan_number</a:t>
            </a:r>
            <a:r>
              <a:rPr lang="en-US" sz="1800" dirty="0">
                <a:latin typeface="Times New Roman" pitchFamily="18" charset="0"/>
                <a:cs typeface="Times New Roman" pitchFamily="18" charset="0"/>
              </a:rPr>
              <a:t> common to </a:t>
            </a:r>
            <a:r>
              <a:rPr lang="en-US" sz="1800" i="1" dirty="0">
                <a:latin typeface="Times New Roman" pitchFamily="18" charset="0"/>
                <a:cs typeface="Times New Roman" pitchFamily="18" charset="0"/>
              </a:rPr>
              <a:t>payment</a:t>
            </a:r>
            <a:r>
              <a:rPr lang="en-US" sz="1800" dirty="0">
                <a:latin typeface="Times New Roman" pitchFamily="18" charset="0"/>
                <a:cs typeface="Times New Roman" pitchFamily="18" charset="0"/>
              </a:rPr>
              <a:t> and </a:t>
            </a:r>
            <a:r>
              <a:rPr lang="en-US" sz="1800" i="1" dirty="0">
                <a:latin typeface="Times New Roman" pitchFamily="18" charset="0"/>
                <a:cs typeface="Times New Roman" pitchFamily="18" charset="0"/>
              </a:rPr>
              <a:t>loan</a:t>
            </a:r>
          </a:p>
        </p:txBody>
      </p:sp>
      <p:sp>
        <p:nvSpPr>
          <p:cNvPr id="5" name="Rectangle 2"/>
          <p:cNvSpPr>
            <a:spLocks noGrp="1" noChangeArrowheads="1"/>
          </p:cNvSpPr>
          <p:nvPr>
            <p:ph type="title"/>
          </p:nvPr>
        </p:nvSpPr>
        <p:spPr>
          <a:xfrm>
            <a:off x="457200" y="274638"/>
            <a:ext cx="8229600" cy="944562"/>
          </a:xfrm>
        </p:spPr>
        <p:txBody>
          <a:bodyPr>
            <a:normAutofit/>
          </a:bodyPr>
          <a:lstStyle/>
          <a:p>
            <a:pPr>
              <a:defRPr/>
            </a:pPr>
            <a:r>
              <a:rPr lang="en-US" sz="3600" dirty="0">
                <a:latin typeface="Times New Roman" pitchFamily="18" charset="0"/>
                <a:cs typeface="Times New Roman" pitchFamily="18" charset="0"/>
              </a:rPr>
              <a:t>Weak Entity Sets (Cont.)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More Weak Entity Set Examples</a:t>
            </a:r>
          </a:p>
        </p:txBody>
      </p:sp>
      <p:sp>
        <p:nvSpPr>
          <p:cNvPr id="51203" name="Rectangle 3"/>
          <p:cNvSpPr>
            <a:spLocks noGrp="1" noChangeArrowheads="1"/>
          </p:cNvSpPr>
          <p:nvPr>
            <p:ph type="body" idx="1"/>
          </p:nvPr>
        </p:nvSpPr>
        <p:spPr>
          <a:xfrm>
            <a:off x="855663" y="1222375"/>
            <a:ext cx="7391400" cy="3136900"/>
          </a:xfrm>
        </p:spPr>
        <p:txBody>
          <a:bodyPr/>
          <a:lstStyle/>
          <a:p>
            <a:r>
              <a:rPr lang="en-US" sz="1800" dirty="0">
                <a:latin typeface="Times New Roman" pitchFamily="18" charset="0"/>
                <a:cs typeface="Times New Roman" pitchFamily="18" charset="0"/>
              </a:rPr>
              <a:t>In a university, a </a:t>
            </a:r>
            <a:r>
              <a:rPr lang="en-US" sz="1800" i="1" dirty="0">
                <a:latin typeface="Times New Roman" pitchFamily="18" charset="0"/>
                <a:cs typeface="Times New Roman" pitchFamily="18" charset="0"/>
              </a:rPr>
              <a:t>course</a:t>
            </a:r>
            <a:r>
              <a:rPr lang="en-US" sz="1800" dirty="0">
                <a:latin typeface="Times New Roman" pitchFamily="18" charset="0"/>
                <a:cs typeface="Times New Roman" pitchFamily="18" charset="0"/>
              </a:rPr>
              <a:t> is a strong entity and a </a:t>
            </a:r>
            <a:r>
              <a:rPr lang="en-US" sz="1800" i="1" dirty="0" err="1">
                <a:latin typeface="Times New Roman" pitchFamily="18" charset="0"/>
                <a:cs typeface="Times New Roman" pitchFamily="18" charset="0"/>
              </a:rPr>
              <a:t>course_offering</a:t>
            </a:r>
            <a:r>
              <a:rPr lang="en-US" sz="1800" i="1" dirty="0">
                <a:latin typeface="Times New Roman" pitchFamily="18" charset="0"/>
                <a:cs typeface="Times New Roman" pitchFamily="18" charset="0"/>
              </a:rPr>
              <a:t> </a:t>
            </a:r>
            <a:r>
              <a:rPr lang="en-US" sz="1800" dirty="0">
                <a:latin typeface="Times New Roman" pitchFamily="18" charset="0"/>
                <a:cs typeface="Times New Roman" pitchFamily="18" charset="0"/>
              </a:rPr>
              <a:t>can be modeled as a weak entity</a:t>
            </a:r>
          </a:p>
          <a:p>
            <a:r>
              <a:rPr lang="en-US" sz="1800" dirty="0">
                <a:latin typeface="Times New Roman" pitchFamily="18" charset="0"/>
                <a:cs typeface="Times New Roman" pitchFamily="18" charset="0"/>
              </a:rPr>
              <a:t>The discriminator of </a:t>
            </a:r>
            <a:r>
              <a:rPr lang="en-US" sz="1800" i="1" dirty="0" err="1">
                <a:latin typeface="Times New Roman" pitchFamily="18" charset="0"/>
                <a:cs typeface="Times New Roman" pitchFamily="18" charset="0"/>
              </a:rPr>
              <a:t>course_offering</a:t>
            </a:r>
            <a:r>
              <a:rPr lang="en-US" sz="1800" dirty="0">
                <a:latin typeface="Times New Roman" pitchFamily="18" charset="0"/>
                <a:cs typeface="Times New Roman" pitchFamily="18" charset="0"/>
              </a:rPr>
              <a:t> would be </a:t>
            </a:r>
            <a:r>
              <a:rPr lang="en-US" sz="1800" i="1" dirty="0">
                <a:latin typeface="Times New Roman" pitchFamily="18" charset="0"/>
                <a:cs typeface="Times New Roman" pitchFamily="18" charset="0"/>
              </a:rPr>
              <a:t>semester</a:t>
            </a:r>
            <a:r>
              <a:rPr lang="en-US" sz="1800" dirty="0">
                <a:latin typeface="Times New Roman" pitchFamily="18" charset="0"/>
                <a:cs typeface="Times New Roman" pitchFamily="18" charset="0"/>
              </a:rPr>
              <a:t> (including year) and </a:t>
            </a:r>
            <a:r>
              <a:rPr lang="en-US" sz="1800" i="1" dirty="0" err="1">
                <a:latin typeface="Times New Roman" pitchFamily="18" charset="0"/>
                <a:cs typeface="Times New Roman" pitchFamily="18" charset="0"/>
              </a:rPr>
              <a:t>section_number</a:t>
            </a:r>
            <a:r>
              <a:rPr lang="en-US" sz="1800" i="1" dirty="0">
                <a:latin typeface="Times New Roman" pitchFamily="18" charset="0"/>
                <a:cs typeface="Times New Roman" pitchFamily="18" charset="0"/>
              </a:rPr>
              <a:t> </a:t>
            </a:r>
            <a:r>
              <a:rPr lang="en-US" sz="1800" dirty="0">
                <a:latin typeface="Times New Roman" pitchFamily="18" charset="0"/>
                <a:cs typeface="Times New Roman" pitchFamily="18" charset="0"/>
              </a:rPr>
              <a:t>(if there is more than one section)</a:t>
            </a:r>
          </a:p>
          <a:p>
            <a:r>
              <a:rPr lang="en-US" sz="1800" dirty="0">
                <a:latin typeface="Times New Roman" pitchFamily="18" charset="0"/>
                <a:cs typeface="Times New Roman" pitchFamily="18" charset="0"/>
              </a:rPr>
              <a:t>If we model </a:t>
            </a:r>
            <a:r>
              <a:rPr lang="en-US" sz="1800" i="1" dirty="0" err="1">
                <a:latin typeface="Times New Roman" pitchFamily="18" charset="0"/>
                <a:cs typeface="Times New Roman" pitchFamily="18" charset="0"/>
              </a:rPr>
              <a:t>course_offering</a:t>
            </a:r>
            <a:r>
              <a:rPr lang="en-US" sz="1800" dirty="0">
                <a:latin typeface="Times New Roman" pitchFamily="18" charset="0"/>
                <a:cs typeface="Times New Roman" pitchFamily="18" charset="0"/>
              </a:rPr>
              <a:t> as a strong entity we would model </a:t>
            </a:r>
            <a:r>
              <a:rPr lang="en-US" sz="1800" i="1" dirty="0" err="1">
                <a:latin typeface="Times New Roman" pitchFamily="18" charset="0"/>
                <a:cs typeface="Times New Roman" pitchFamily="18" charset="0"/>
              </a:rPr>
              <a:t>course_number</a:t>
            </a:r>
            <a:r>
              <a:rPr lang="en-US" sz="1800" dirty="0">
                <a:latin typeface="Times New Roman" pitchFamily="18" charset="0"/>
                <a:cs typeface="Times New Roman" pitchFamily="18" charset="0"/>
              </a:rPr>
              <a:t> as an attribute.  </a:t>
            </a:r>
          </a:p>
          <a:p>
            <a:pPr>
              <a:buFont typeface="Monotype Sorts" pitchFamily="2" charset="2"/>
              <a:buNone/>
            </a:pPr>
            <a:r>
              <a:rPr lang="en-US" sz="1800" dirty="0">
                <a:latin typeface="Times New Roman" pitchFamily="18" charset="0"/>
                <a:cs typeface="Times New Roman" pitchFamily="18" charset="0"/>
              </a:rPr>
              <a:t>	Then the relationship with </a:t>
            </a:r>
            <a:r>
              <a:rPr lang="en-US" sz="1800" i="1" dirty="0">
                <a:latin typeface="Times New Roman" pitchFamily="18" charset="0"/>
                <a:cs typeface="Times New Roman" pitchFamily="18" charset="0"/>
              </a:rPr>
              <a:t>course</a:t>
            </a:r>
            <a:r>
              <a:rPr lang="en-US" sz="1800" dirty="0">
                <a:latin typeface="Times New Roman" pitchFamily="18" charset="0"/>
                <a:cs typeface="Times New Roman" pitchFamily="18" charset="0"/>
              </a:rPr>
              <a:t> would be implicit in the </a:t>
            </a:r>
            <a:r>
              <a:rPr lang="en-US" sz="1800" i="1" dirty="0" err="1">
                <a:latin typeface="Times New Roman" pitchFamily="18" charset="0"/>
                <a:cs typeface="Times New Roman" pitchFamily="18" charset="0"/>
              </a:rPr>
              <a:t>course_number</a:t>
            </a:r>
            <a:r>
              <a:rPr lang="en-US" sz="1800" dirty="0">
                <a:latin typeface="Times New Roman" pitchFamily="18" charset="0"/>
                <a:cs typeface="Times New Roman" pitchFamily="18" charset="0"/>
              </a:rPr>
              <a:t> attribute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Extended E-R Features: Specialization</a:t>
            </a:r>
          </a:p>
        </p:txBody>
      </p:sp>
      <p:sp>
        <p:nvSpPr>
          <p:cNvPr id="52227" name="Rectangle 3"/>
          <p:cNvSpPr>
            <a:spLocks noGrp="1" noChangeArrowheads="1"/>
          </p:cNvSpPr>
          <p:nvPr>
            <p:ph type="body" idx="1"/>
          </p:nvPr>
        </p:nvSpPr>
        <p:spPr>
          <a:xfrm>
            <a:off x="855663" y="1222375"/>
            <a:ext cx="8026400" cy="3944938"/>
          </a:xfrm>
        </p:spPr>
        <p:txBody>
          <a:bodyPr/>
          <a:lstStyle/>
          <a:p>
            <a:r>
              <a:rPr lang="en-US" sz="1800" dirty="0">
                <a:latin typeface="Times New Roman" pitchFamily="18" charset="0"/>
                <a:cs typeface="Times New Roman" pitchFamily="18" charset="0"/>
              </a:rPr>
              <a:t>Top-down design process; we designate subgroupings within an entity set that are distinctive from other entities in the set.</a:t>
            </a:r>
          </a:p>
          <a:p>
            <a:r>
              <a:rPr lang="en-US" sz="1800" dirty="0">
                <a:latin typeface="Times New Roman" pitchFamily="18" charset="0"/>
                <a:cs typeface="Times New Roman" pitchFamily="18" charset="0"/>
              </a:rPr>
              <a:t>These subgroupings become lower-level entity sets that have attributes or participate in relationships that do not apply to the higher-level entity set.</a:t>
            </a:r>
          </a:p>
          <a:p>
            <a:r>
              <a:rPr lang="en-US" sz="1800" dirty="0">
                <a:latin typeface="Times New Roman" pitchFamily="18" charset="0"/>
                <a:cs typeface="Times New Roman" pitchFamily="18" charset="0"/>
              </a:rPr>
              <a:t>Depicted by a </a:t>
            </a:r>
            <a:r>
              <a:rPr lang="en-US" sz="1800" i="1" dirty="0">
                <a:latin typeface="Times New Roman" pitchFamily="18" charset="0"/>
                <a:cs typeface="Times New Roman" pitchFamily="18" charset="0"/>
              </a:rPr>
              <a:t>triangle</a:t>
            </a:r>
            <a:r>
              <a:rPr lang="en-US" sz="1800" dirty="0">
                <a:latin typeface="Times New Roman" pitchFamily="18" charset="0"/>
                <a:cs typeface="Times New Roman" pitchFamily="18" charset="0"/>
              </a:rPr>
              <a:t> component labeled ISA (E.g. </a:t>
            </a:r>
            <a:r>
              <a:rPr lang="en-US" sz="1800" i="1" dirty="0">
                <a:latin typeface="Times New Roman" pitchFamily="18" charset="0"/>
                <a:cs typeface="Times New Roman" pitchFamily="18" charset="0"/>
              </a:rPr>
              <a:t>customer</a:t>
            </a:r>
            <a:r>
              <a:rPr lang="en-US" sz="1800" dirty="0">
                <a:latin typeface="Times New Roman" pitchFamily="18" charset="0"/>
                <a:cs typeface="Times New Roman" pitchFamily="18" charset="0"/>
              </a:rPr>
              <a:t> “is a” </a:t>
            </a:r>
            <a:r>
              <a:rPr lang="en-US" sz="1800" i="1" dirty="0">
                <a:latin typeface="Times New Roman" pitchFamily="18" charset="0"/>
                <a:cs typeface="Times New Roman" pitchFamily="18" charset="0"/>
              </a:rPr>
              <a:t>person</a:t>
            </a:r>
            <a:r>
              <a:rPr lang="en-US" sz="1800" dirty="0">
                <a:latin typeface="Times New Roman" pitchFamily="18" charset="0"/>
                <a:cs typeface="Times New Roman" pitchFamily="18" charset="0"/>
              </a:rPr>
              <a:t>).</a:t>
            </a:r>
          </a:p>
          <a:p>
            <a:r>
              <a:rPr lang="en-US" sz="1800" b="1" dirty="0">
                <a:solidFill>
                  <a:schemeClr val="tx2"/>
                </a:solidFill>
                <a:latin typeface="Times New Roman" pitchFamily="18" charset="0"/>
                <a:cs typeface="Times New Roman" pitchFamily="18" charset="0"/>
              </a:rPr>
              <a:t>Attribute inheritance</a:t>
            </a:r>
            <a:r>
              <a:rPr lang="en-US" sz="1800" dirty="0">
                <a:latin typeface="Times New Roman" pitchFamily="18" charset="0"/>
                <a:cs typeface="Times New Roman" pitchFamily="18" charset="0"/>
              </a:rPr>
              <a:t> – </a:t>
            </a:r>
            <a:r>
              <a:rPr lang="en-US" sz="1800" b="1" dirty="0">
                <a:latin typeface="Times New Roman" pitchFamily="18" charset="0"/>
                <a:cs typeface="Times New Roman" pitchFamily="18" charset="0"/>
              </a:rPr>
              <a:t>a lower-level entity set inherits all the attributes and relationship participation of the higher-level entity set to which it is linked</a:t>
            </a:r>
            <a:r>
              <a:rPr lang="en-US" sz="1800" dirty="0">
                <a:latin typeface="Times New Roman" pitchFamily="18" charset="0"/>
                <a:cs typeface="Times New Roman" pitchFamily="18" charset="0"/>
              </a:rPr>
              <a:t>.</a:t>
            </a:r>
          </a:p>
          <a:p>
            <a:endParaRPr lang="en-US" sz="18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457200" y="274638"/>
            <a:ext cx="8229600" cy="868362"/>
          </a:xfrm>
        </p:spPr>
        <p:txBody>
          <a:bodyPr/>
          <a:lstStyle/>
          <a:p>
            <a:pPr>
              <a:defRPr/>
            </a:pPr>
            <a:r>
              <a:rPr lang="en-US" dirty="0"/>
              <a:t>Specialization Example</a:t>
            </a:r>
          </a:p>
        </p:txBody>
      </p:sp>
      <p:pic>
        <p:nvPicPr>
          <p:cNvPr id="53251" name="Picture 4"/>
          <p:cNvPicPr>
            <a:picLocks noChangeAspect="1" noChangeArrowheads="1"/>
          </p:cNvPicPr>
          <p:nvPr/>
        </p:nvPicPr>
        <p:blipFill>
          <a:blip r:embed="rId2"/>
          <a:srcRect l="11617" t="1086" r="11821" b="815"/>
          <a:stretch>
            <a:fillRect/>
          </a:stretch>
        </p:blipFill>
        <p:spPr bwMode="auto">
          <a:xfrm>
            <a:off x="1752600" y="1219200"/>
            <a:ext cx="5367337" cy="5157787"/>
          </a:xfrm>
          <a:prstGeom prst="rect">
            <a:avLst/>
          </a:prstGeom>
          <a:noFill/>
          <a:ln w="38100" cmpd="dbl">
            <a:solidFill>
              <a:schemeClr val="tx2"/>
            </a:solid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Extended ER Features: Generalization</a:t>
            </a:r>
          </a:p>
        </p:txBody>
      </p:sp>
      <p:sp>
        <p:nvSpPr>
          <p:cNvPr id="54275" name="Rectangle 3"/>
          <p:cNvSpPr>
            <a:spLocks noGrp="1" noChangeArrowheads="1"/>
          </p:cNvSpPr>
          <p:nvPr>
            <p:ph type="body" idx="1"/>
          </p:nvPr>
        </p:nvSpPr>
        <p:spPr>
          <a:xfrm>
            <a:off x="855663" y="1222375"/>
            <a:ext cx="7253287" cy="2674938"/>
          </a:xfrm>
        </p:spPr>
        <p:txBody>
          <a:bodyPr/>
          <a:lstStyle/>
          <a:p>
            <a:r>
              <a:rPr lang="en-US" sz="1800" b="1" dirty="0">
                <a:solidFill>
                  <a:schemeClr val="tx2"/>
                </a:solidFill>
                <a:latin typeface="Times New Roman" pitchFamily="18" charset="0"/>
                <a:cs typeface="Times New Roman" pitchFamily="18" charset="0"/>
              </a:rPr>
              <a:t>A bottom-up design process</a:t>
            </a:r>
            <a:r>
              <a:rPr lang="en-US" sz="1800" dirty="0">
                <a:latin typeface="Times New Roman" pitchFamily="18" charset="0"/>
                <a:cs typeface="Times New Roman" pitchFamily="18" charset="0"/>
              </a:rPr>
              <a:t> – combine a number of entity sets that share the same features into a higher-level entity set.</a:t>
            </a:r>
          </a:p>
          <a:p>
            <a:r>
              <a:rPr lang="en-US" sz="1800" dirty="0">
                <a:latin typeface="Times New Roman" pitchFamily="18" charset="0"/>
                <a:cs typeface="Times New Roman" pitchFamily="18" charset="0"/>
              </a:rPr>
              <a:t>Specialization and generalization are simple inversions of each other; they are represented in an E-R diagram in the same way.</a:t>
            </a:r>
          </a:p>
          <a:p>
            <a:r>
              <a:rPr lang="en-US" sz="1800" dirty="0">
                <a:latin typeface="Times New Roman" pitchFamily="18" charset="0"/>
                <a:cs typeface="Times New Roman" pitchFamily="18" charset="0"/>
              </a:rPr>
              <a:t>The terms specialization and generalization are used interchangeably.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457200" y="228600"/>
            <a:ext cx="8458200" cy="709613"/>
          </a:xfrm>
        </p:spPr>
        <p:txBody>
          <a:bodyPr>
            <a:normAutofit/>
          </a:bodyPr>
          <a:lstStyle/>
          <a:p>
            <a:pPr>
              <a:defRPr/>
            </a:pPr>
            <a:r>
              <a:rPr lang="en-US" sz="3600" dirty="0">
                <a:latin typeface="Times New Roman" pitchFamily="18" charset="0"/>
                <a:cs typeface="Times New Roman" pitchFamily="18" charset="0"/>
              </a:rPr>
              <a:t>Specialization and Generalization (Cont.)</a:t>
            </a:r>
          </a:p>
        </p:txBody>
      </p:sp>
      <p:sp>
        <p:nvSpPr>
          <p:cNvPr id="55299" name="Rectangle 3"/>
          <p:cNvSpPr>
            <a:spLocks noGrp="1" noChangeArrowheads="1"/>
          </p:cNvSpPr>
          <p:nvPr>
            <p:ph type="body" idx="1"/>
          </p:nvPr>
        </p:nvSpPr>
        <p:spPr>
          <a:xfrm>
            <a:off x="855663" y="1222375"/>
            <a:ext cx="7797800" cy="4027488"/>
          </a:xfrm>
        </p:spPr>
        <p:txBody>
          <a:bodyPr/>
          <a:lstStyle/>
          <a:p>
            <a:r>
              <a:rPr lang="en-US" sz="1800" dirty="0">
                <a:latin typeface="Times New Roman" pitchFamily="18" charset="0"/>
                <a:cs typeface="Times New Roman" pitchFamily="18" charset="0"/>
              </a:rPr>
              <a:t>Can have multiple specializations of an entity set based on different features.  </a:t>
            </a:r>
          </a:p>
          <a:p>
            <a:r>
              <a:rPr lang="en-US" sz="1800" dirty="0">
                <a:latin typeface="Times New Roman" pitchFamily="18" charset="0"/>
                <a:cs typeface="Times New Roman" pitchFamily="18" charset="0"/>
              </a:rPr>
              <a:t>E.g. </a:t>
            </a:r>
            <a:r>
              <a:rPr lang="en-US" sz="1800" i="1" dirty="0" err="1">
                <a:latin typeface="Times New Roman" pitchFamily="18" charset="0"/>
                <a:cs typeface="Times New Roman" pitchFamily="18" charset="0"/>
              </a:rPr>
              <a:t>permanent_employee</a:t>
            </a:r>
            <a:r>
              <a:rPr lang="en-US" sz="1800" i="1" dirty="0">
                <a:latin typeface="Times New Roman" pitchFamily="18" charset="0"/>
                <a:cs typeface="Times New Roman" pitchFamily="18" charset="0"/>
              </a:rPr>
              <a:t> </a:t>
            </a:r>
            <a:r>
              <a:rPr lang="en-US" sz="1800" dirty="0">
                <a:latin typeface="Times New Roman" pitchFamily="18" charset="0"/>
                <a:cs typeface="Times New Roman" pitchFamily="18" charset="0"/>
              </a:rPr>
              <a:t>vs. </a:t>
            </a:r>
            <a:r>
              <a:rPr lang="en-US" sz="1800" i="1" dirty="0" err="1">
                <a:latin typeface="Times New Roman" pitchFamily="18" charset="0"/>
                <a:cs typeface="Times New Roman" pitchFamily="18" charset="0"/>
              </a:rPr>
              <a:t>temporary_employee</a:t>
            </a:r>
            <a:r>
              <a:rPr lang="en-US" sz="1800" dirty="0">
                <a:latin typeface="Times New Roman" pitchFamily="18" charset="0"/>
                <a:cs typeface="Times New Roman" pitchFamily="18" charset="0"/>
              </a:rPr>
              <a:t>, in addition to </a:t>
            </a:r>
            <a:r>
              <a:rPr lang="en-US" sz="1800" i="1" dirty="0">
                <a:latin typeface="Times New Roman" pitchFamily="18" charset="0"/>
                <a:cs typeface="Times New Roman" pitchFamily="18" charset="0"/>
              </a:rPr>
              <a:t>officer  </a:t>
            </a:r>
            <a:r>
              <a:rPr lang="en-US" sz="1800" dirty="0">
                <a:latin typeface="Times New Roman" pitchFamily="18" charset="0"/>
                <a:cs typeface="Times New Roman" pitchFamily="18" charset="0"/>
              </a:rPr>
              <a:t>vs. </a:t>
            </a:r>
            <a:r>
              <a:rPr lang="en-US" sz="1800" i="1" dirty="0">
                <a:latin typeface="Times New Roman" pitchFamily="18" charset="0"/>
                <a:cs typeface="Times New Roman" pitchFamily="18" charset="0"/>
              </a:rPr>
              <a:t>secretary </a:t>
            </a:r>
            <a:r>
              <a:rPr lang="en-US" sz="1800" dirty="0">
                <a:latin typeface="Times New Roman" pitchFamily="18" charset="0"/>
                <a:cs typeface="Times New Roman" pitchFamily="18" charset="0"/>
              </a:rPr>
              <a:t>vs. </a:t>
            </a:r>
            <a:r>
              <a:rPr lang="en-US" sz="1800" i="1" dirty="0">
                <a:latin typeface="Times New Roman" pitchFamily="18" charset="0"/>
                <a:cs typeface="Times New Roman" pitchFamily="18" charset="0"/>
              </a:rPr>
              <a:t>teller</a:t>
            </a:r>
          </a:p>
          <a:p>
            <a:r>
              <a:rPr lang="en-US" sz="1800" dirty="0">
                <a:latin typeface="Times New Roman" pitchFamily="18" charset="0"/>
                <a:cs typeface="Times New Roman" pitchFamily="18" charset="0"/>
              </a:rPr>
              <a:t>Each particular employee would be </a:t>
            </a:r>
          </a:p>
          <a:p>
            <a:pPr lvl="1"/>
            <a:r>
              <a:rPr lang="en-US" sz="1800" dirty="0">
                <a:latin typeface="Times New Roman" pitchFamily="18" charset="0"/>
                <a:cs typeface="Times New Roman" pitchFamily="18" charset="0"/>
              </a:rPr>
              <a:t>a member of one of </a:t>
            </a:r>
            <a:r>
              <a:rPr lang="en-US" sz="1800" i="1" dirty="0" err="1">
                <a:latin typeface="Times New Roman" pitchFamily="18" charset="0"/>
                <a:cs typeface="Times New Roman" pitchFamily="18" charset="0"/>
              </a:rPr>
              <a:t>permanent_employee</a:t>
            </a:r>
            <a:r>
              <a:rPr lang="en-US" sz="1800" i="1" dirty="0">
                <a:latin typeface="Times New Roman" pitchFamily="18" charset="0"/>
                <a:cs typeface="Times New Roman" pitchFamily="18" charset="0"/>
              </a:rPr>
              <a:t> </a:t>
            </a:r>
            <a:r>
              <a:rPr lang="en-US" sz="1800" dirty="0">
                <a:latin typeface="Times New Roman" pitchFamily="18" charset="0"/>
                <a:cs typeface="Times New Roman" pitchFamily="18" charset="0"/>
              </a:rPr>
              <a:t>or </a:t>
            </a:r>
            <a:r>
              <a:rPr lang="en-US" sz="1800" i="1" dirty="0" err="1">
                <a:latin typeface="Times New Roman" pitchFamily="18" charset="0"/>
                <a:cs typeface="Times New Roman" pitchFamily="18" charset="0"/>
              </a:rPr>
              <a:t>temporary_employee</a:t>
            </a:r>
            <a:r>
              <a:rPr lang="en-US" sz="1800" dirty="0">
                <a:latin typeface="Times New Roman" pitchFamily="18" charset="0"/>
                <a:cs typeface="Times New Roman" pitchFamily="18" charset="0"/>
              </a:rPr>
              <a:t>, </a:t>
            </a:r>
          </a:p>
          <a:p>
            <a:pPr lvl="1"/>
            <a:r>
              <a:rPr lang="en-US" sz="1800" dirty="0">
                <a:latin typeface="Times New Roman" pitchFamily="18" charset="0"/>
                <a:cs typeface="Times New Roman" pitchFamily="18" charset="0"/>
              </a:rPr>
              <a:t>and also a member of one of </a:t>
            </a:r>
            <a:r>
              <a:rPr lang="en-US" sz="1800" i="1" dirty="0">
                <a:latin typeface="Times New Roman" pitchFamily="18" charset="0"/>
                <a:cs typeface="Times New Roman" pitchFamily="18" charset="0"/>
              </a:rPr>
              <a:t>officer</a:t>
            </a:r>
            <a:r>
              <a:rPr lang="en-US" sz="1800" dirty="0">
                <a:latin typeface="Times New Roman" pitchFamily="18" charset="0"/>
                <a:cs typeface="Times New Roman" pitchFamily="18" charset="0"/>
              </a:rPr>
              <a:t>, </a:t>
            </a:r>
            <a:r>
              <a:rPr lang="en-US" sz="1800" i="1" dirty="0">
                <a:latin typeface="Times New Roman" pitchFamily="18" charset="0"/>
                <a:cs typeface="Times New Roman" pitchFamily="18" charset="0"/>
              </a:rPr>
              <a:t>secretary</a:t>
            </a:r>
            <a:r>
              <a:rPr lang="en-US" sz="1800" dirty="0">
                <a:latin typeface="Times New Roman" pitchFamily="18" charset="0"/>
                <a:cs typeface="Times New Roman" pitchFamily="18" charset="0"/>
              </a:rPr>
              <a:t>, or </a:t>
            </a:r>
            <a:r>
              <a:rPr lang="en-US" sz="1800" i="1" dirty="0">
                <a:latin typeface="Times New Roman" pitchFamily="18" charset="0"/>
                <a:cs typeface="Times New Roman" pitchFamily="18" charset="0"/>
              </a:rPr>
              <a:t>teller</a:t>
            </a:r>
          </a:p>
          <a:p>
            <a:r>
              <a:rPr lang="en-US" sz="1800" dirty="0">
                <a:latin typeface="Times New Roman" pitchFamily="18" charset="0"/>
                <a:cs typeface="Times New Roman" pitchFamily="18" charset="0"/>
              </a:rPr>
              <a:t>The ISA relationship also referred to as </a:t>
            </a:r>
            <a:r>
              <a:rPr lang="en-US" sz="1800" b="1" dirty="0" err="1">
                <a:solidFill>
                  <a:schemeClr val="tx2"/>
                </a:solidFill>
                <a:latin typeface="Times New Roman" pitchFamily="18" charset="0"/>
                <a:cs typeface="Times New Roman" pitchFamily="18" charset="0"/>
              </a:rPr>
              <a:t>superclass</a:t>
            </a:r>
            <a:r>
              <a:rPr lang="en-US" sz="1800" b="1" dirty="0">
                <a:solidFill>
                  <a:schemeClr val="tx2"/>
                </a:solidFill>
                <a:latin typeface="Times New Roman" pitchFamily="18" charset="0"/>
                <a:cs typeface="Times New Roman" pitchFamily="18" charset="0"/>
              </a:rPr>
              <a:t> - subclass</a:t>
            </a:r>
            <a:r>
              <a:rPr lang="en-US" sz="1800" b="1" dirty="0">
                <a:latin typeface="Times New Roman" pitchFamily="18" charset="0"/>
                <a:cs typeface="Times New Roman" pitchFamily="18" charset="0"/>
              </a:rPr>
              <a:t> </a:t>
            </a:r>
            <a:r>
              <a:rPr lang="en-US" sz="1800" dirty="0">
                <a:latin typeface="Times New Roman" pitchFamily="18" charset="0"/>
                <a:cs typeface="Times New Roman" pitchFamily="18" charset="0"/>
              </a:rPr>
              <a:t>relationship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98525" y="85725"/>
            <a:ext cx="8077200" cy="876300"/>
          </a:xfrm>
        </p:spPr>
        <p:txBody>
          <a:bodyPr>
            <a:normAutofit/>
          </a:bodyPr>
          <a:lstStyle/>
          <a:p>
            <a:pPr>
              <a:defRPr/>
            </a:pPr>
            <a:r>
              <a:rPr lang="en-US" sz="2400" dirty="0">
                <a:latin typeface="Times New Roman" pitchFamily="18" charset="0"/>
                <a:cs typeface="Times New Roman" pitchFamily="18" charset="0"/>
              </a:rPr>
              <a:t>Design Constraints on a Specialization/Generalization</a:t>
            </a:r>
          </a:p>
        </p:txBody>
      </p:sp>
      <p:sp>
        <p:nvSpPr>
          <p:cNvPr id="56323" name="Rectangle 3"/>
          <p:cNvSpPr>
            <a:spLocks noGrp="1" noChangeArrowheads="1"/>
          </p:cNvSpPr>
          <p:nvPr>
            <p:ph type="body" idx="1"/>
          </p:nvPr>
        </p:nvSpPr>
        <p:spPr>
          <a:xfrm>
            <a:off x="855663" y="1222375"/>
            <a:ext cx="7502525" cy="4919663"/>
          </a:xfrm>
        </p:spPr>
        <p:txBody>
          <a:bodyPr/>
          <a:lstStyle/>
          <a:p>
            <a:r>
              <a:rPr lang="en-US" sz="1800" dirty="0">
                <a:latin typeface="Times New Roman" pitchFamily="18" charset="0"/>
                <a:cs typeface="Times New Roman" pitchFamily="18" charset="0"/>
              </a:rPr>
              <a:t>Constraint on which entities can be members of a given lower-level entity set.</a:t>
            </a:r>
          </a:p>
          <a:p>
            <a:pPr lvl="1"/>
            <a:r>
              <a:rPr lang="en-US" sz="1800" dirty="0">
                <a:latin typeface="Times New Roman" pitchFamily="18" charset="0"/>
                <a:cs typeface="Times New Roman" pitchFamily="18" charset="0"/>
              </a:rPr>
              <a:t>condition-defined</a:t>
            </a:r>
          </a:p>
          <a:p>
            <a:pPr lvl="2"/>
            <a:r>
              <a:rPr lang="en-US" sz="1800" dirty="0">
                <a:latin typeface="Times New Roman" pitchFamily="18" charset="0"/>
                <a:cs typeface="Times New Roman" pitchFamily="18" charset="0"/>
              </a:rPr>
              <a:t>Example: all customers over 65 years are members of </a:t>
            </a:r>
            <a:r>
              <a:rPr lang="en-US" sz="1800" i="1" dirty="0">
                <a:latin typeface="Times New Roman" pitchFamily="18" charset="0"/>
                <a:cs typeface="Times New Roman" pitchFamily="18" charset="0"/>
              </a:rPr>
              <a:t>senior-citizen </a:t>
            </a:r>
            <a:r>
              <a:rPr lang="en-US" sz="1800" dirty="0">
                <a:latin typeface="Times New Roman" pitchFamily="18" charset="0"/>
                <a:cs typeface="Times New Roman" pitchFamily="18" charset="0"/>
              </a:rPr>
              <a:t>entity set; </a:t>
            </a:r>
            <a:r>
              <a:rPr lang="en-US" sz="1800" i="1" dirty="0">
                <a:latin typeface="Times New Roman" pitchFamily="18" charset="0"/>
                <a:cs typeface="Times New Roman" pitchFamily="18" charset="0"/>
              </a:rPr>
              <a:t>senior-citizen</a:t>
            </a:r>
            <a:r>
              <a:rPr lang="en-US" sz="1800" dirty="0">
                <a:latin typeface="Times New Roman" pitchFamily="18" charset="0"/>
                <a:cs typeface="Times New Roman" pitchFamily="18" charset="0"/>
              </a:rPr>
              <a:t> ISA  </a:t>
            </a:r>
            <a:r>
              <a:rPr lang="en-US" sz="1800" i="1" dirty="0">
                <a:latin typeface="Times New Roman" pitchFamily="18" charset="0"/>
                <a:cs typeface="Times New Roman" pitchFamily="18" charset="0"/>
              </a:rPr>
              <a:t>person</a:t>
            </a:r>
            <a:r>
              <a:rPr lang="en-US" sz="1800" dirty="0">
                <a:latin typeface="Times New Roman" pitchFamily="18" charset="0"/>
                <a:cs typeface="Times New Roman" pitchFamily="18" charset="0"/>
              </a:rPr>
              <a:t>.</a:t>
            </a:r>
          </a:p>
          <a:p>
            <a:pPr lvl="1"/>
            <a:r>
              <a:rPr lang="en-US" sz="1800" dirty="0">
                <a:latin typeface="Times New Roman" pitchFamily="18" charset="0"/>
                <a:cs typeface="Times New Roman" pitchFamily="18" charset="0"/>
              </a:rPr>
              <a:t>user-defined</a:t>
            </a:r>
          </a:p>
          <a:p>
            <a:r>
              <a:rPr lang="en-US" sz="1800" dirty="0">
                <a:latin typeface="Times New Roman" pitchFamily="18" charset="0"/>
                <a:cs typeface="Times New Roman" pitchFamily="18" charset="0"/>
              </a:rPr>
              <a:t>Constraint on whether or not entities may belong to more than one lower-level entity set within a single generalization.</a:t>
            </a:r>
          </a:p>
          <a:p>
            <a:pPr lvl="1"/>
            <a:r>
              <a:rPr lang="en-US" sz="1800" b="1" dirty="0">
                <a:solidFill>
                  <a:schemeClr val="tx2"/>
                </a:solidFill>
                <a:latin typeface="Times New Roman" pitchFamily="18" charset="0"/>
                <a:cs typeface="Times New Roman" pitchFamily="18" charset="0"/>
              </a:rPr>
              <a:t>Disjoint</a:t>
            </a:r>
          </a:p>
          <a:p>
            <a:pPr lvl="2"/>
            <a:r>
              <a:rPr lang="en-US" sz="1800" dirty="0">
                <a:latin typeface="Times New Roman" pitchFamily="18" charset="0"/>
                <a:cs typeface="Times New Roman" pitchFamily="18" charset="0"/>
              </a:rPr>
              <a:t>an entity can belong to only one lower-level entity set</a:t>
            </a:r>
          </a:p>
          <a:p>
            <a:pPr lvl="2"/>
            <a:r>
              <a:rPr lang="en-US" sz="1800" dirty="0">
                <a:latin typeface="Times New Roman" pitchFamily="18" charset="0"/>
                <a:cs typeface="Times New Roman" pitchFamily="18" charset="0"/>
              </a:rPr>
              <a:t>Noted in E-R diagram by writing </a:t>
            </a:r>
            <a:r>
              <a:rPr lang="en-US" sz="1800" i="1" dirty="0">
                <a:latin typeface="Times New Roman" pitchFamily="18" charset="0"/>
                <a:cs typeface="Times New Roman" pitchFamily="18" charset="0"/>
              </a:rPr>
              <a:t>disjoint</a:t>
            </a:r>
            <a:r>
              <a:rPr lang="en-US" sz="1800" dirty="0">
                <a:latin typeface="Times New Roman" pitchFamily="18" charset="0"/>
                <a:cs typeface="Times New Roman" pitchFamily="18" charset="0"/>
              </a:rPr>
              <a:t> next to the ISA triangle</a:t>
            </a:r>
            <a:endParaRPr lang="en-US" sz="1800" dirty="0">
              <a:solidFill>
                <a:schemeClr val="tx2"/>
              </a:solidFill>
              <a:latin typeface="Times New Roman" pitchFamily="18" charset="0"/>
              <a:cs typeface="Times New Roman" pitchFamily="18" charset="0"/>
            </a:endParaRPr>
          </a:p>
          <a:p>
            <a:pPr lvl="1"/>
            <a:r>
              <a:rPr lang="en-US" sz="1800" b="1" dirty="0">
                <a:solidFill>
                  <a:schemeClr val="tx2"/>
                </a:solidFill>
                <a:latin typeface="Times New Roman" pitchFamily="18" charset="0"/>
                <a:cs typeface="Times New Roman" pitchFamily="18" charset="0"/>
              </a:rPr>
              <a:t>Overlapping</a:t>
            </a:r>
          </a:p>
          <a:p>
            <a:pPr lvl="2"/>
            <a:r>
              <a:rPr lang="en-US" sz="1800" dirty="0">
                <a:latin typeface="Times New Roman" pitchFamily="18" charset="0"/>
                <a:cs typeface="Times New Roman" pitchFamily="18" charset="0"/>
              </a:rPr>
              <a:t>an entity can belong to more than one lower-level entity set</a:t>
            </a:r>
            <a:endParaRPr lang="en-US" sz="1800" dirty="0">
              <a:solidFill>
                <a:schemeClr val="tx2"/>
              </a:solidFill>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609600" y="304800"/>
            <a:ext cx="8323263" cy="990600"/>
          </a:xfrm>
        </p:spPr>
        <p:txBody>
          <a:bodyPr>
            <a:normAutofit/>
          </a:bodyPr>
          <a:lstStyle/>
          <a:p>
            <a:pPr>
              <a:defRPr/>
            </a:pPr>
            <a:r>
              <a:rPr lang="en-US" sz="2400" dirty="0">
                <a:latin typeface="Times New Roman" pitchFamily="18" charset="0"/>
                <a:cs typeface="Times New Roman" pitchFamily="18" charset="0"/>
              </a:rPr>
              <a:t>Design Constraints on a Specialization/Generalization (Cont.)</a:t>
            </a:r>
          </a:p>
        </p:txBody>
      </p:sp>
      <p:sp>
        <p:nvSpPr>
          <p:cNvPr id="57347" name="Rectangle 3"/>
          <p:cNvSpPr>
            <a:spLocks noGrp="1" noChangeArrowheads="1"/>
          </p:cNvSpPr>
          <p:nvPr>
            <p:ph type="body" idx="1"/>
          </p:nvPr>
        </p:nvSpPr>
        <p:spPr>
          <a:xfrm>
            <a:off x="838200" y="1447800"/>
            <a:ext cx="6869112" cy="2867025"/>
          </a:xfrm>
        </p:spPr>
        <p:txBody>
          <a:bodyPr/>
          <a:lstStyle/>
          <a:p>
            <a:r>
              <a:rPr lang="en-US" sz="1800" b="1" dirty="0">
                <a:solidFill>
                  <a:schemeClr val="tx2"/>
                </a:solidFill>
                <a:latin typeface="Times New Roman" pitchFamily="18" charset="0"/>
                <a:cs typeface="Times New Roman" pitchFamily="18" charset="0"/>
              </a:rPr>
              <a:t>Completeness</a:t>
            </a:r>
            <a:r>
              <a:rPr lang="en-US" sz="1800" b="1" dirty="0">
                <a:latin typeface="Times New Roman" pitchFamily="18" charset="0"/>
                <a:cs typeface="Times New Roman" pitchFamily="18" charset="0"/>
              </a:rPr>
              <a:t> </a:t>
            </a:r>
            <a:r>
              <a:rPr lang="en-US" sz="1800" b="1" dirty="0">
                <a:solidFill>
                  <a:schemeClr val="tx2"/>
                </a:solidFill>
                <a:latin typeface="Times New Roman" pitchFamily="18" charset="0"/>
                <a:cs typeface="Times New Roman" pitchFamily="18" charset="0"/>
              </a:rPr>
              <a:t>constraint</a:t>
            </a:r>
            <a:r>
              <a:rPr lang="en-US" sz="1800" dirty="0">
                <a:latin typeface="Times New Roman" pitchFamily="18" charset="0"/>
                <a:cs typeface="Times New Roman" pitchFamily="18" charset="0"/>
              </a:rPr>
              <a:t> -- specifies whether or not an entity in the higher-level entity set must belong to at least one of the lower-level entity sets within a generalization.</a:t>
            </a:r>
          </a:p>
          <a:p>
            <a:pPr lvl="1"/>
            <a:r>
              <a:rPr lang="en-US" sz="1800" b="1" dirty="0">
                <a:solidFill>
                  <a:schemeClr val="tx2"/>
                </a:solidFill>
                <a:latin typeface="Times New Roman" pitchFamily="18" charset="0"/>
                <a:cs typeface="Times New Roman" pitchFamily="18" charset="0"/>
              </a:rPr>
              <a:t>total</a:t>
            </a:r>
            <a:r>
              <a:rPr lang="en-US" sz="1800" b="1" dirty="0">
                <a:latin typeface="Times New Roman" pitchFamily="18" charset="0"/>
                <a:cs typeface="Times New Roman" pitchFamily="18" charset="0"/>
              </a:rPr>
              <a:t> </a:t>
            </a:r>
            <a:r>
              <a:rPr lang="en-US" sz="1800" dirty="0">
                <a:latin typeface="Times New Roman" pitchFamily="18" charset="0"/>
                <a:cs typeface="Times New Roman" pitchFamily="18" charset="0"/>
              </a:rPr>
              <a:t>: an entity must belong to one of the lower-level entity sets</a:t>
            </a:r>
          </a:p>
          <a:p>
            <a:pPr lvl="1"/>
            <a:r>
              <a:rPr lang="en-US" sz="1800" b="1" dirty="0">
                <a:solidFill>
                  <a:schemeClr val="tx2"/>
                </a:solidFill>
                <a:latin typeface="Times New Roman" pitchFamily="18" charset="0"/>
                <a:cs typeface="Times New Roman" pitchFamily="18" charset="0"/>
              </a:rPr>
              <a:t>partial</a:t>
            </a:r>
            <a:r>
              <a:rPr lang="en-US" sz="1800" dirty="0">
                <a:latin typeface="Times New Roman" pitchFamily="18" charset="0"/>
                <a:cs typeface="Times New Roman" pitchFamily="18" charset="0"/>
              </a:rPr>
              <a:t>: an entity need not belong to one of the lower-level entity sets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19DB-0E3C-DC63-9D63-8C8F466269C3}"/>
              </a:ext>
            </a:extLst>
          </p:cNvPr>
          <p:cNvSpPr>
            <a:spLocks noGrp="1"/>
          </p:cNvSpPr>
          <p:nvPr>
            <p:ph type="title"/>
          </p:nvPr>
        </p:nvSpPr>
        <p:spPr>
          <a:xfrm>
            <a:off x="457200" y="533400"/>
            <a:ext cx="8229600" cy="1143000"/>
          </a:xfrm>
        </p:spPr>
        <p:txBody>
          <a:bodyPr/>
          <a:lstStyle/>
          <a:p>
            <a:r>
              <a:rPr lang="en-US" dirty="0"/>
              <a:t>Limitation of ER model</a:t>
            </a:r>
          </a:p>
        </p:txBody>
      </p:sp>
      <p:sp>
        <p:nvSpPr>
          <p:cNvPr id="3" name="Rectangle 3">
            <a:extLst>
              <a:ext uri="{FF2B5EF4-FFF2-40B4-BE49-F238E27FC236}">
                <a16:creationId xmlns:a16="http://schemas.microsoft.com/office/drawing/2014/main" id="{3DAF8ADE-B295-4617-E2F8-32BE4979B5FC}"/>
              </a:ext>
            </a:extLst>
          </p:cNvPr>
          <p:cNvSpPr txBox="1">
            <a:spLocks noChangeArrowheads="1"/>
          </p:cNvSpPr>
          <p:nvPr/>
        </p:nvSpPr>
        <p:spPr>
          <a:xfrm>
            <a:off x="1137444" y="1828800"/>
            <a:ext cx="6869112" cy="286702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latin typeface="Times New Roman" pitchFamily="18" charset="0"/>
                <a:cs typeface="Times New Roman" pitchFamily="18" charset="0"/>
              </a:rPr>
              <a:t>One limitation of the E-R model is that it can not express relationship among relationship. </a:t>
            </a:r>
          </a:p>
          <a:p>
            <a:r>
              <a:rPr lang="en-US" sz="1800" dirty="0">
                <a:latin typeface="Times New Roman" pitchFamily="18" charset="0"/>
                <a:cs typeface="Times New Roman" pitchFamily="18" charset="0"/>
              </a:rPr>
              <a:t>We can overcome this limitation by using Aggregation</a:t>
            </a:r>
          </a:p>
        </p:txBody>
      </p:sp>
    </p:spTree>
    <p:extLst>
      <p:ext uri="{BB962C8B-B14F-4D97-AF65-F5344CB8AC3E}">
        <p14:creationId xmlns:p14="http://schemas.microsoft.com/office/powerpoint/2010/main" val="33587609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209675" y="52388"/>
            <a:ext cx="6726238" cy="622300"/>
          </a:xfrm>
        </p:spPr>
        <p:txBody>
          <a:bodyPr>
            <a:noAutofit/>
          </a:bodyPr>
          <a:lstStyle/>
          <a:p>
            <a:pPr>
              <a:defRPr/>
            </a:pPr>
            <a:r>
              <a:rPr lang="en-US" sz="3600" dirty="0">
                <a:latin typeface="Times New Roman" pitchFamily="18" charset="0"/>
                <a:cs typeface="Times New Roman" pitchFamily="18" charset="0"/>
              </a:rPr>
              <a:t>Aggregation</a:t>
            </a:r>
          </a:p>
        </p:txBody>
      </p:sp>
      <p:sp>
        <p:nvSpPr>
          <p:cNvPr id="58371" name="Rectangle 4"/>
          <p:cNvSpPr>
            <a:spLocks noChangeArrowheads="1"/>
          </p:cNvSpPr>
          <p:nvPr/>
        </p:nvSpPr>
        <p:spPr bwMode="auto">
          <a:xfrm>
            <a:off x="838200" y="838200"/>
            <a:ext cx="7985125" cy="2031325"/>
          </a:xfrm>
          <a:prstGeom prst="rect">
            <a:avLst/>
          </a:prstGeom>
          <a:noFill/>
          <a:ln w="9525">
            <a:noFill/>
            <a:miter lim="800000"/>
            <a:headEnd/>
            <a:tailEnd/>
          </a:ln>
        </p:spPr>
        <p:txBody>
          <a:bodyPr>
            <a:spAutoFit/>
          </a:bodyPr>
          <a:lstStyle/>
          <a:p>
            <a:pPr>
              <a:spcBef>
                <a:spcPct val="50000"/>
              </a:spcBef>
              <a:buClr>
                <a:schemeClr val="tx2"/>
              </a:buClr>
              <a:buSzPct val="90000"/>
              <a:buFont typeface="Monotype Sorts" pitchFamily="2" charset="2"/>
              <a:buChar char="n"/>
            </a:pPr>
            <a:r>
              <a:rPr lang="en-US" b="0" i="0" dirty="0">
                <a:solidFill>
                  <a:srgbClr val="333333"/>
                </a:solidFill>
                <a:effectLst/>
                <a:latin typeface="inter-regular"/>
              </a:rPr>
              <a:t>In aggregation, the relation between two entities is treated as a single entity. In aggregation, relationship with its corresponding entities is aggregated into a higher level entity.</a:t>
            </a:r>
            <a:endParaRPr kumimoji="1" lang="en-US" sz="1800" dirty="0">
              <a:latin typeface="Times New Roman" pitchFamily="18" charset="0"/>
              <a:cs typeface="Times New Roman" pitchFamily="18" charset="0"/>
            </a:endParaRPr>
          </a:p>
          <a:p>
            <a:pPr>
              <a:spcBef>
                <a:spcPct val="50000"/>
              </a:spcBef>
              <a:buClr>
                <a:schemeClr val="tx2"/>
              </a:buClr>
              <a:buSzPct val="90000"/>
              <a:buFont typeface="Monotype Sorts" pitchFamily="2" charset="2"/>
              <a:buChar char="n"/>
            </a:pPr>
            <a:r>
              <a:rPr kumimoji="1" lang="en-US" sz="1800" dirty="0">
                <a:latin typeface="Times New Roman" pitchFamily="18" charset="0"/>
                <a:cs typeface="Times New Roman" pitchFamily="18" charset="0"/>
              </a:rPr>
              <a:t> Consider the ternary relationship </a:t>
            </a:r>
            <a:r>
              <a:rPr kumimoji="1" lang="en-US" sz="1800" i="1" dirty="0" err="1">
                <a:latin typeface="Times New Roman" pitchFamily="18" charset="0"/>
                <a:cs typeface="Times New Roman" pitchFamily="18" charset="0"/>
              </a:rPr>
              <a:t>works_on</a:t>
            </a:r>
            <a:r>
              <a:rPr kumimoji="1" lang="en-US" sz="1800" dirty="0">
                <a:latin typeface="Times New Roman" pitchFamily="18" charset="0"/>
                <a:cs typeface="Times New Roman" pitchFamily="18" charset="0"/>
              </a:rPr>
              <a:t>, which we saw earlier</a:t>
            </a:r>
          </a:p>
          <a:p>
            <a:pPr>
              <a:spcBef>
                <a:spcPct val="50000"/>
              </a:spcBef>
              <a:buClr>
                <a:schemeClr val="tx2"/>
              </a:buClr>
              <a:buSzPct val="90000"/>
              <a:buFont typeface="Monotype Sorts" pitchFamily="2" charset="2"/>
              <a:buChar char="n"/>
            </a:pPr>
            <a:r>
              <a:rPr kumimoji="1" lang="en-US" sz="1800" dirty="0">
                <a:latin typeface="Times New Roman" pitchFamily="18" charset="0"/>
                <a:cs typeface="Times New Roman" pitchFamily="18" charset="0"/>
              </a:rPr>
              <a:t> Suppose we want to record managers for tasks performed by an   </a:t>
            </a:r>
            <a:br>
              <a:rPr kumimoji="1" lang="en-US" sz="1800" dirty="0">
                <a:latin typeface="Times New Roman" pitchFamily="18" charset="0"/>
                <a:cs typeface="Times New Roman" pitchFamily="18" charset="0"/>
              </a:rPr>
            </a:br>
            <a:r>
              <a:rPr kumimoji="1" lang="en-US" sz="1800" dirty="0">
                <a:latin typeface="Times New Roman" pitchFamily="18" charset="0"/>
                <a:cs typeface="Times New Roman" pitchFamily="18" charset="0"/>
              </a:rPr>
              <a:t>   employee at a branch</a:t>
            </a:r>
          </a:p>
        </p:txBody>
      </p:sp>
      <p:pic>
        <p:nvPicPr>
          <p:cNvPr id="58372" name="Picture 5"/>
          <p:cNvPicPr>
            <a:picLocks noChangeAspect="1" noChangeArrowheads="1"/>
          </p:cNvPicPr>
          <p:nvPr/>
        </p:nvPicPr>
        <p:blipFill>
          <a:blip r:embed="rId2"/>
          <a:srcRect l="417" t="2777" r="626" b="2777"/>
          <a:stretch>
            <a:fillRect/>
          </a:stretch>
        </p:blipFill>
        <p:spPr bwMode="auto">
          <a:xfrm>
            <a:off x="1904206" y="2974055"/>
            <a:ext cx="5335587" cy="3819525"/>
          </a:xfrm>
          <a:prstGeom prst="rect">
            <a:avLst/>
          </a:prstGeom>
          <a:noFill/>
          <a:ln w="38100" cmpd="dbl">
            <a:solidFill>
              <a:schemeClr val="tx2"/>
            </a:solid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Aggregation (Cont.)</a:t>
            </a:r>
          </a:p>
        </p:txBody>
      </p:sp>
      <p:sp>
        <p:nvSpPr>
          <p:cNvPr id="59395" name="Rectangle 3"/>
          <p:cNvSpPr>
            <a:spLocks noGrp="1" noChangeArrowheads="1"/>
          </p:cNvSpPr>
          <p:nvPr>
            <p:ph type="body" idx="1"/>
          </p:nvPr>
        </p:nvSpPr>
        <p:spPr>
          <a:xfrm>
            <a:off x="855663" y="1222375"/>
            <a:ext cx="8556625" cy="5226050"/>
          </a:xfrm>
        </p:spPr>
        <p:txBody>
          <a:bodyPr/>
          <a:lstStyle/>
          <a:p>
            <a:r>
              <a:rPr lang="en-US" sz="1800" dirty="0">
                <a:latin typeface="Times New Roman" pitchFamily="18" charset="0"/>
                <a:cs typeface="Times New Roman" pitchFamily="18" charset="0"/>
              </a:rPr>
              <a:t>Relationship sets </a:t>
            </a:r>
            <a:r>
              <a:rPr lang="en-US" sz="1800" i="1" dirty="0" err="1">
                <a:latin typeface="Times New Roman" pitchFamily="18" charset="0"/>
                <a:cs typeface="Times New Roman" pitchFamily="18" charset="0"/>
              </a:rPr>
              <a:t>works_on</a:t>
            </a:r>
            <a:r>
              <a:rPr lang="en-US" sz="1800" i="1" dirty="0">
                <a:latin typeface="Times New Roman" pitchFamily="18" charset="0"/>
                <a:cs typeface="Times New Roman" pitchFamily="18" charset="0"/>
              </a:rPr>
              <a:t> </a:t>
            </a:r>
            <a:r>
              <a:rPr lang="en-US" sz="1800" dirty="0">
                <a:latin typeface="Times New Roman" pitchFamily="18" charset="0"/>
                <a:cs typeface="Times New Roman" pitchFamily="18" charset="0"/>
              </a:rPr>
              <a:t>and </a:t>
            </a:r>
            <a:r>
              <a:rPr lang="en-US" sz="1800" i="1" dirty="0">
                <a:latin typeface="Times New Roman" pitchFamily="18" charset="0"/>
                <a:cs typeface="Times New Roman" pitchFamily="18" charset="0"/>
              </a:rPr>
              <a:t>manages</a:t>
            </a:r>
            <a:r>
              <a:rPr lang="en-US" sz="1800" dirty="0">
                <a:latin typeface="Times New Roman" pitchFamily="18" charset="0"/>
                <a:cs typeface="Times New Roman" pitchFamily="18" charset="0"/>
              </a:rPr>
              <a:t> represent overlapping information</a:t>
            </a:r>
          </a:p>
          <a:p>
            <a:pPr lvl="1"/>
            <a:r>
              <a:rPr lang="en-US" sz="1800" dirty="0">
                <a:latin typeface="Times New Roman" pitchFamily="18" charset="0"/>
                <a:cs typeface="Times New Roman" pitchFamily="18" charset="0"/>
              </a:rPr>
              <a:t>Every </a:t>
            </a:r>
            <a:r>
              <a:rPr lang="en-US" sz="1800" i="1" dirty="0">
                <a:latin typeface="Times New Roman" pitchFamily="18" charset="0"/>
                <a:cs typeface="Times New Roman" pitchFamily="18" charset="0"/>
              </a:rPr>
              <a:t>manages</a:t>
            </a:r>
            <a:r>
              <a:rPr lang="en-US" sz="1800" dirty="0">
                <a:latin typeface="Times New Roman" pitchFamily="18" charset="0"/>
                <a:cs typeface="Times New Roman" pitchFamily="18" charset="0"/>
              </a:rPr>
              <a:t> relationship corresponds to a </a:t>
            </a:r>
            <a:r>
              <a:rPr lang="en-US" sz="1800" i="1" dirty="0" err="1">
                <a:latin typeface="Times New Roman" pitchFamily="18" charset="0"/>
                <a:cs typeface="Times New Roman" pitchFamily="18" charset="0"/>
              </a:rPr>
              <a:t>works_on</a:t>
            </a:r>
            <a:r>
              <a:rPr lang="en-US" sz="1800" dirty="0">
                <a:latin typeface="Times New Roman" pitchFamily="18" charset="0"/>
                <a:cs typeface="Times New Roman" pitchFamily="18" charset="0"/>
              </a:rPr>
              <a:t> relationship</a:t>
            </a:r>
          </a:p>
          <a:p>
            <a:pPr lvl="1"/>
            <a:r>
              <a:rPr lang="en-US" sz="1800" dirty="0">
                <a:latin typeface="Times New Roman" pitchFamily="18" charset="0"/>
                <a:cs typeface="Times New Roman" pitchFamily="18" charset="0"/>
              </a:rPr>
              <a:t>However, some </a:t>
            </a:r>
            <a:r>
              <a:rPr lang="en-US" sz="1800" i="1" dirty="0" err="1">
                <a:latin typeface="Times New Roman" pitchFamily="18" charset="0"/>
                <a:cs typeface="Times New Roman" pitchFamily="18" charset="0"/>
              </a:rPr>
              <a:t>works_on</a:t>
            </a:r>
            <a:r>
              <a:rPr lang="en-US" sz="1800" dirty="0">
                <a:latin typeface="Times New Roman" pitchFamily="18" charset="0"/>
                <a:cs typeface="Times New Roman" pitchFamily="18" charset="0"/>
              </a:rPr>
              <a:t> relationships may not correspond to any </a:t>
            </a:r>
            <a:r>
              <a:rPr lang="en-US" sz="1800" i="1" dirty="0">
                <a:latin typeface="Times New Roman" pitchFamily="18" charset="0"/>
                <a:cs typeface="Times New Roman" pitchFamily="18" charset="0"/>
              </a:rPr>
              <a:t>manages</a:t>
            </a:r>
            <a:r>
              <a:rPr lang="en-US" sz="1800" dirty="0">
                <a:latin typeface="Times New Roman" pitchFamily="18" charset="0"/>
                <a:cs typeface="Times New Roman" pitchFamily="18" charset="0"/>
              </a:rPr>
              <a:t> relationships </a:t>
            </a:r>
          </a:p>
          <a:p>
            <a:pPr lvl="2"/>
            <a:r>
              <a:rPr lang="en-US" sz="1800" dirty="0">
                <a:latin typeface="Times New Roman" pitchFamily="18" charset="0"/>
                <a:cs typeface="Times New Roman" pitchFamily="18" charset="0"/>
              </a:rPr>
              <a:t>So we can’t discard the </a:t>
            </a:r>
            <a:r>
              <a:rPr lang="en-US" sz="1800" i="1" dirty="0" err="1">
                <a:latin typeface="Times New Roman" pitchFamily="18" charset="0"/>
                <a:cs typeface="Times New Roman" pitchFamily="18" charset="0"/>
              </a:rPr>
              <a:t>works_on</a:t>
            </a:r>
            <a:r>
              <a:rPr lang="en-US" sz="1800" dirty="0">
                <a:latin typeface="Times New Roman" pitchFamily="18" charset="0"/>
                <a:cs typeface="Times New Roman" pitchFamily="18" charset="0"/>
              </a:rPr>
              <a:t> relationship</a:t>
            </a:r>
          </a:p>
          <a:p>
            <a:r>
              <a:rPr lang="en-US" sz="1800" b="1" dirty="0">
                <a:solidFill>
                  <a:schemeClr val="tx2">
                    <a:lumMod val="60000"/>
                    <a:lumOff val="40000"/>
                  </a:schemeClr>
                </a:solidFill>
                <a:latin typeface="Times New Roman" pitchFamily="18" charset="0"/>
                <a:cs typeface="Times New Roman" pitchFamily="18" charset="0"/>
              </a:rPr>
              <a:t>Eliminate this redundancy via </a:t>
            </a:r>
            <a:r>
              <a:rPr lang="en-US" sz="1800" b="1" i="1" dirty="0">
                <a:solidFill>
                  <a:schemeClr val="tx2">
                    <a:lumMod val="60000"/>
                    <a:lumOff val="40000"/>
                  </a:schemeClr>
                </a:solidFill>
                <a:latin typeface="Times New Roman" pitchFamily="18" charset="0"/>
                <a:cs typeface="Times New Roman" pitchFamily="18" charset="0"/>
              </a:rPr>
              <a:t>aggregation</a:t>
            </a:r>
            <a:endParaRPr lang="en-US" sz="1800" b="1" dirty="0">
              <a:solidFill>
                <a:schemeClr val="tx2">
                  <a:lumMod val="60000"/>
                  <a:lumOff val="40000"/>
                </a:schemeClr>
              </a:solidFill>
              <a:latin typeface="Times New Roman" pitchFamily="18" charset="0"/>
              <a:cs typeface="Times New Roman" pitchFamily="18" charset="0"/>
            </a:endParaRPr>
          </a:p>
          <a:p>
            <a:pPr lvl="1"/>
            <a:r>
              <a:rPr lang="en-US" sz="1800" dirty="0">
                <a:latin typeface="Times New Roman" pitchFamily="18" charset="0"/>
                <a:cs typeface="Times New Roman" pitchFamily="18" charset="0"/>
              </a:rPr>
              <a:t>Treat relationship as an abstract entity</a:t>
            </a:r>
          </a:p>
          <a:p>
            <a:pPr lvl="1"/>
            <a:r>
              <a:rPr lang="en-US" sz="1800" dirty="0">
                <a:latin typeface="Times New Roman" pitchFamily="18" charset="0"/>
                <a:cs typeface="Times New Roman" pitchFamily="18" charset="0"/>
              </a:rPr>
              <a:t>Allows relationships between relationships </a:t>
            </a:r>
          </a:p>
          <a:p>
            <a:pPr lvl="1"/>
            <a:r>
              <a:rPr lang="en-US" sz="1800" dirty="0">
                <a:latin typeface="Times New Roman" pitchFamily="18" charset="0"/>
                <a:cs typeface="Times New Roman" pitchFamily="18" charset="0"/>
              </a:rPr>
              <a:t>Abstraction of relationship into new entity</a:t>
            </a:r>
          </a:p>
          <a:p>
            <a:r>
              <a:rPr lang="en-US" sz="1800" dirty="0">
                <a:latin typeface="Times New Roman" pitchFamily="18" charset="0"/>
                <a:cs typeface="Times New Roman" pitchFamily="18" charset="0"/>
              </a:rPr>
              <a:t>Without introducing redundancy, the following diagram represents:</a:t>
            </a:r>
          </a:p>
          <a:p>
            <a:pPr lvl="1"/>
            <a:r>
              <a:rPr lang="en-US" sz="1800" dirty="0">
                <a:latin typeface="Times New Roman" pitchFamily="18" charset="0"/>
                <a:cs typeface="Times New Roman" pitchFamily="18" charset="0"/>
              </a:rPr>
              <a:t>An employee works on a particular job at a particular branch </a:t>
            </a:r>
          </a:p>
          <a:p>
            <a:pPr lvl="1"/>
            <a:r>
              <a:rPr lang="en-US" sz="1800" dirty="0">
                <a:latin typeface="Times New Roman" pitchFamily="18" charset="0"/>
                <a:cs typeface="Times New Roman" pitchFamily="18" charset="0"/>
              </a:rPr>
              <a:t>An employee, branch, job combination may have an associated manager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E-R Diagram With Aggregation</a:t>
            </a:r>
          </a:p>
        </p:txBody>
      </p:sp>
      <p:pic>
        <p:nvPicPr>
          <p:cNvPr id="60419" name="Picture 4"/>
          <p:cNvPicPr>
            <a:picLocks noChangeAspect="1" noChangeArrowheads="1"/>
          </p:cNvPicPr>
          <p:nvPr/>
        </p:nvPicPr>
        <p:blipFill>
          <a:blip r:embed="rId2"/>
          <a:srcRect l="1233" t="1918" r="1643" b="548"/>
          <a:stretch>
            <a:fillRect/>
          </a:stretch>
        </p:blipFill>
        <p:spPr bwMode="auto">
          <a:xfrm>
            <a:off x="1295400" y="1295400"/>
            <a:ext cx="6883400" cy="5243513"/>
          </a:xfrm>
          <a:prstGeom prst="rect">
            <a:avLst/>
          </a:prstGeom>
          <a:noFill/>
          <a:ln w="38100" cmpd="dbl">
            <a:solidFill>
              <a:schemeClr val="tx2"/>
            </a:solidFill>
            <a:miter lim="800000"/>
            <a:headEnd/>
            <a:tailEnd/>
          </a:ln>
        </p:spPr>
      </p:pic>
      <p:sp>
        <p:nvSpPr>
          <p:cNvPr id="60420" name="Rectangle 5"/>
          <p:cNvSpPr>
            <a:spLocks noChangeArrowheads="1"/>
          </p:cNvSpPr>
          <p:nvPr/>
        </p:nvSpPr>
        <p:spPr bwMode="auto">
          <a:xfrm>
            <a:off x="4686300" y="3213100"/>
            <a:ext cx="254000" cy="241300"/>
          </a:xfrm>
          <a:prstGeom prst="rect">
            <a:avLst/>
          </a:prstGeom>
          <a:solidFill>
            <a:schemeClr val="accent1"/>
          </a:solidFill>
          <a:ln w="9525">
            <a:noFill/>
            <a:miter lim="800000"/>
            <a:headEnd/>
            <a:tailEnd/>
          </a:ln>
        </p:spPr>
        <p:txBody>
          <a:bodyPr wrap="none" anchor="ct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E-R Design Decisions</a:t>
            </a:r>
          </a:p>
        </p:txBody>
      </p:sp>
      <p:sp>
        <p:nvSpPr>
          <p:cNvPr id="61443" name="Rectangle 6"/>
          <p:cNvSpPr>
            <a:spLocks noGrp="1" noChangeArrowheads="1"/>
          </p:cNvSpPr>
          <p:nvPr>
            <p:ph type="body" idx="1"/>
          </p:nvPr>
        </p:nvSpPr>
        <p:spPr>
          <a:xfrm>
            <a:off x="855663" y="1222375"/>
            <a:ext cx="7397750" cy="4687888"/>
          </a:xfrm>
        </p:spPr>
        <p:txBody>
          <a:bodyPr/>
          <a:lstStyle/>
          <a:p>
            <a:r>
              <a:rPr lang="en-US" sz="1800" dirty="0">
                <a:latin typeface="Times New Roman" pitchFamily="18" charset="0"/>
                <a:cs typeface="Times New Roman" pitchFamily="18" charset="0"/>
              </a:rPr>
              <a:t>The use of an attribute or entity set to represent an object.</a:t>
            </a:r>
          </a:p>
          <a:p>
            <a:r>
              <a:rPr lang="en-US" sz="1800" dirty="0">
                <a:latin typeface="Times New Roman" pitchFamily="18" charset="0"/>
                <a:cs typeface="Times New Roman" pitchFamily="18" charset="0"/>
              </a:rPr>
              <a:t>Whether a real-world concept is best expressed by an entity set or a relationship set.</a:t>
            </a:r>
          </a:p>
          <a:p>
            <a:r>
              <a:rPr lang="en-US" sz="1800" dirty="0">
                <a:latin typeface="Times New Roman" pitchFamily="18" charset="0"/>
                <a:cs typeface="Times New Roman" pitchFamily="18" charset="0"/>
              </a:rPr>
              <a:t>The use of a ternary relationship versus a pair of binary relationships.</a:t>
            </a:r>
          </a:p>
          <a:p>
            <a:r>
              <a:rPr lang="en-US" sz="1800" dirty="0">
                <a:latin typeface="Times New Roman" pitchFamily="18" charset="0"/>
                <a:cs typeface="Times New Roman" pitchFamily="18" charset="0"/>
              </a:rPr>
              <a:t>The use of a strong or weak entity set.</a:t>
            </a:r>
          </a:p>
          <a:p>
            <a:r>
              <a:rPr lang="en-US" sz="1800" dirty="0">
                <a:latin typeface="Times New Roman" pitchFamily="18" charset="0"/>
                <a:cs typeface="Times New Roman" pitchFamily="18" charset="0"/>
              </a:rPr>
              <a:t>The use of specialization/generalization – contributes to modularity in the design.</a:t>
            </a:r>
          </a:p>
          <a:p>
            <a:r>
              <a:rPr lang="en-US" sz="1800" dirty="0">
                <a:latin typeface="Times New Roman" pitchFamily="18" charset="0"/>
                <a:cs typeface="Times New Roman" pitchFamily="18" charset="0"/>
              </a:rPr>
              <a:t>The use of aggregation – can treat the aggregate entity set as a single unit without concern for the details of its internal structure.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895350" y="66675"/>
            <a:ext cx="8077200" cy="609600"/>
          </a:xfrm>
        </p:spPr>
        <p:txBody>
          <a:bodyPr>
            <a:noAutofit/>
          </a:bodyPr>
          <a:lstStyle/>
          <a:p>
            <a:pPr>
              <a:defRPr/>
            </a:pPr>
            <a:r>
              <a:rPr lang="en-US" sz="3600" dirty="0">
                <a:latin typeface="Times New Roman" pitchFamily="18" charset="0"/>
                <a:cs typeface="Times New Roman" pitchFamily="18" charset="0"/>
              </a:rPr>
              <a:t>E-R Diagram for a Banking Enterprise</a:t>
            </a:r>
          </a:p>
        </p:txBody>
      </p:sp>
      <p:pic>
        <p:nvPicPr>
          <p:cNvPr id="62467" name="Picture 4"/>
          <p:cNvPicPr>
            <a:picLocks noChangeAspect="1" noChangeArrowheads="1"/>
          </p:cNvPicPr>
          <p:nvPr/>
        </p:nvPicPr>
        <p:blipFill>
          <a:blip r:embed="rId2"/>
          <a:srcRect l="13025" t="560" r="13025" b="841"/>
          <a:stretch>
            <a:fillRect/>
          </a:stretch>
        </p:blipFill>
        <p:spPr bwMode="auto">
          <a:xfrm>
            <a:off x="1770063" y="800100"/>
            <a:ext cx="5668962" cy="5668963"/>
          </a:xfrm>
          <a:prstGeom prst="rect">
            <a:avLst/>
          </a:prstGeom>
          <a:noFill/>
          <a:ln w="38100" cmpd="dbl">
            <a:solidFill>
              <a:schemeClr val="tx2"/>
            </a:solid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normAutofit/>
          </a:bodyPr>
          <a:lstStyle/>
          <a:p>
            <a:pPr>
              <a:defRPr/>
            </a:pPr>
            <a:r>
              <a:rPr lang="en-US" sz="3600" dirty="0">
                <a:latin typeface="Times New Roman" pitchFamily="18" charset="0"/>
                <a:cs typeface="Times New Roman" pitchFamily="18" charset="0"/>
              </a:rPr>
              <a:t>E-R Diagram for Exercise</a:t>
            </a:r>
          </a:p>
        </p:txBody>
      </p:sp>
      <p:pic>
        <p:nvPicPr>
          <p:cNvPr id="82947" name="Picture 3"/>
          <p:cNvPicPr>
            <a:picLocks noChangeAspect="1" noChangeArrowheads="1"/>
          </p:cNvPicPr>
          <p:nvPr/>
        </p:nvPicPr>
        <p:blipFill>
          <a:blip r:embed="rId2"/>
          <a:srcRect l="9953" t="1422" r="10309" b="1186"/>
          <a:stretch>
            <a:fillRect/>
          </a:stretch>
        </p:blipFill>
        <p:spPr bwMode="auto">
          <a:xfrm>
            <a:off x="1828800" y="1295400"/>
            <a:ext cx="5697538" cy="5219700"/>
          </a:xfrm>
          <a:prstGeom prst="rect">
            <a:avLst/>
          </a:prstGeom>
          <a:noFill/>
          <a:ln w="38100" cmpd="dbl">
            <a:solidFill>
              <a:schemeClr val="tx2"/>
            </a:solid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03225" y="184150"/>
            <a:ext cx="9267825" cy="477838"/>
          </a:xfrm>
        </p:spPr>
        <p:txBody>
          <a:bodyPr>
            <a:normAutofit fontScale="90000"/>
          </a:bodyPr>
          <a:lstStyle/>
          <a:p>
            <a:pPr>
              <a:defRPr/>
            </a:pPr>
            <a:r>
              <a:rPr lang="en-US" sz="2800"/>
              <a:t>Summary of Symbols Used in E-R Notation</a:t>
            </a:r>
          </a:p>
        </p:txBody>
      </p:sp>
      <p:pic>
        <p:nvPicPr>
          <p:cNvPr id="64515" name="Picture 4"/>
          <p:cNvPicPr>
            <a:picLocks noChangeAspect="1" noChangeArrowheads="1"/>
          </p:cNvPicPr>
          <p:nvPr/>
        </p:nvPicPr>
        <p:blipFill>
          <a:blip r:embed="rId2"/>
          <a:srcRect l="20950" t="558" r="21368" b="1396"/>
          <a:stretch>
            <a:fillRect/>
          </a:stretch>
        </p:blipFill>
        <p:spPr bwMode="auto">
          <a:xfrm>
            <a:off x="2298700" y="985838"/>
            <a:ext cx="4340225" cy="5532437"/>
          </a:xfrm>
          <a:prstGeom prst="rect">
            <a:avLst/>
          </a:prstGeom>
          <a:noFill/>
          <a:ln w="38100" cmpd="dbl">
            <a:solidFill>
              <a:schemeClr val="tx2"/>
            </a:solid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457200" y="228600"/>
            <a:ext cx="8229600" cy="685800"/>
          </a:xfrm>
        </p:spPr>
        <p:txBody>
          <a:bodyPr>
            <a:normAutofit/>
          </a:bodyPr>
          <a:lstStyle/>
          <a:p>
            <a:pPr>
              <a:defRPr/>
            </a:pPr>
            <a:r>
              <a:rPr lang="en-US" sz="3600" dirty="0"/>
              <a:t>UML	</a:t>
            </a:r>
          </a:p>
        </p:txBody>
      </p:sp>
      <p:sp>
        <p:nvSpPr>
          <p:cNvPr id="76803" name="Rectangle 3"/>
          <p:cNvSpPr>
            <a:spLocks noGrp="1" noChangeArrowheads="1"/>
          </p:cNvSpPr>
          <p:nvPr>
            <p:ph type="body" idx="1"/>
          </p:nvPr>
        </p:nvSpPr>
        <p:spPr>
          <a:xfrm>
            <a:off x="855663" y="1222375"/>
            <a:ext cx="7848600" cy="4876800"/>
          </a:xfrm>
        </p:spPr>
        <p:txBody>
          <a:bodyPr>
            <a:normAutofit/>
          </a:bodyPr>
          <a:lstStyle/>
          <a:p>
            <a:pPr algn="just">
              <a:buNone/>
            </a:pPr>
            <a:r>
              <a:rPr lang="en-US" sz="1800" b="1" dirty="0">
                <a:latin typeface="Times New Roman" pitchFamily="18" charset="0"/>
                <a:cs typeface="Times New Roman" pitchFamily="18" charset="0"/>
              </a:rPr>
              <a:t>Unified Modeling Language (UML) </a:t>
            </a:r>
            <a:r>
              <a:rPr lang="en-US" sz="1800" dirty="0">
                <a:latin typeface="Times New Roman" pitchFamily="18" charset="0"/>
                <a:cs typeface="Times New Roman" pitchFamily="18" charset="0"/>
              </a:rPr>
              <a:t>helps to model the data representation of ER diagram by component of a software system.  Some of the parts of UML are:</a:t>
            </a:r>
          </a:p>
          <a:p>
            <a:pPr algn="just">
              <a:buFont typeface="Wingdings" pitchFamily="2" charset="2"/>
              <a:buChar char="§"/>
            </a:pPr>
            <a:r>
              <a:rPr lang="en-US" sz="1800" b="1" dirty="0">
                <a:latin typeface="Times New Roman" pitchFamily="18" charset="0"/>
                <a:cs typeface="Times New Roman" pitchFamily="18" charset="0"/>
              </a:rPr>
              <a:t>Class diagram:</a:t>
            </a:r>
            <a:r>
              <a:rPr lang="en-US" sz="1800" dirty="0">
                <a:latin typeface="Times New Roman" pitchFamily="18" charset="0"/>
                <a:cs typeface="Times New Roman" pitchFamily="18" charset="0"/>
              </a:rPr>
              <a:t> A class diagram is similar to an E-R diagram.</a:t>
            </a:r>
          </a:p>
          <a:p>
            <a:pPr algn="just">
              <a:buFont typeface="Wingdings" pitchFamily="2" charset="2"/>
              <a:buChar char="§"/>
            </a:pPr>
            <a:r>
              <a:rPr lang="en-US" sz="1800" b="1" dirty="0">
                <a:latin typeface="Times New Roman" pitchFamily="18" charset="0"/>
                <a:cs typeface="Times New Roman" pitchFamily="18" charset="0"/>
              </a:rPr>
              <a:t>Use case diagram:</a:t>
            </a:r>
            <a:r>
              <a:rPr lang="en-US" sz="1800" dirty="0">
                <a:latin typeface="Times New Roman" pitchFamily="18" charset="0"/>
                <a:cs typeface="Times New Roman" pitchFamily="18" charset="0"/>
              </a:rPr>
              <a:t> Use case diagrams show the interaction between users and</a:t>
            </a:r>
          </a:p>
          <a:p>
            <a:pPr algn="just">
              <a:buNone/>
            </a:pPr>
            <a:r>
              <a:rPr lang="en-US" sz="1800" dirty="0">
                <a:latin typeface="Times New Roman" pitchFamily="18" charset="0"/>
                <a:cs typeface="Times New Roman" pitchFamily="18" charset="0"/>
              </a:rPr>
              <a:t>	the system, in particular the steps of tasks that users perform.</a:t>
            </a:r>
          </a:p>
          <a:p>
            <a:pPr algn="just">
              <a:buFont typeface="Wingdings" pitchFamily="2" charset="2"/>
              <a:buChar char="§"/>
            </a:pPr>
            <a:r>
              <a:rPr lang="en-US" sz="1800" b="1" dirty="0">
                <a:latin typeface="Times New Roman" pitchFamily="18" charset="0"/>
                <a:cs typeface="Times New Roman" pitchFamily="18" charset="0"/>
              </a:rPr>
              <a:t>Activity diagram:</a:t>
            </a:r>
            <a:r>
              <a:rPr lang="en-US" sz="1800" dirty="0">
                <a:latin typeface="Times New Roman" pitchFamily="18" charset="0"/>
                <a:cs typeface="Times New Roman" pitchFamily="18" charset="0"/>
              </a:rPr>
              <a:t> Activity diagrams depict the flow of tasks between various</a:t>
            </a:r>
          </a:p>
          <a:p>
            <a:pPr algn="just">
              <a:buNone/>
            </a:pPr>
            <a:r>
              <a:rPr lang="en-US" sz="1800" dirty="0">
                <a:latin typeface="Times New Roman" pitchFamily="18" charset="0"/>
                <a:cs typeface="Times New Roman" pitchFamily="18" charset="0"/>
              </a:rPr>
              <a:t>	components of a system.</a:t>
            </a:r>
          </a:p>
          <a:p>
            <a:pPr algn="just">
              <a:buFont typeface="Wingdings" pitchFamily="2" charset="2"/>
              <a:buChar char="§"/>
            </a:pPr>
            <a:r>
              <a:rPr lang="en-US" sz="1800" b="1" dirty="0">
                <a:latin typeface="Times New Roman" pitchFamily="18" charset="0"/>
                <a:cs typeface="Times New Roman" pitchFamily="18" charset="0"/>
              </a:rPr>
              <a:t>Implementation diagram:</a:t>
            </a:r>
            <a:r>
              <a:rPr lang="en-US" sz="1800" dirty="0">
                <a:latin typeface="Times New Roman" pitchFamily="18" charset="0"/>
                <a:cs typeface="Times New Roman" pitchFamily="18" charset="0"/>
              </a:rPr>
              <a:t> Implementation diagrams show the system components and their interconnections, both at the software component level and the hardware component level.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85800" y="228600"/>
            <a:ext cx="8077200" cy="609600"/>
          </a:xfrm>
        </p:spPr>
        <p:txBody>
          <a:bodyPr>
            <a:normAutofit/>
          </a:bodyPr>
          <a:lstStyle/>
          <a:p>
            <a:pPr>
              <a:defRPr/>
            </a:pPr>
            <a:r>
              <a:rPr lang="en-US" sz="2800" dirty="0">
                <a:latin typeface="Times New Roman" pitchFamily="18" charset="0"/>
                <a:cs typeface="Times New Roman" pitchFamily="18" charset="0"/>
              </a:rPr>
              <a:t>UML Class Diagram Notation</a:t>
            </a:r>
          </a:p>
        </p:txBody>
      </p:sp>
      <p:pic>
        <p:nvPicPr>
          <p:cNvPr id="77827" name="Picture 3"/>
          <p:cNvPicPr>
            <a:picLocks noChangeAspect="1" noChangeArrowheads="1"/>
          </p:cNvPicPr>
          <p:nvPr/>
        </p:nvPicPr>
        <p:blipFill>
          <a:blip r:embed="rId2"/>
          <a:srcRect l="18739" t="720" r="18919" b="49730"/>
          <a:stretch>
            <a:fillRect/>
          </a:stretch>
        </p:blipFill>
        <p:spPr bwMode="auto">
          <a:xfrm>
            <a:off x="855663" y="1093788"/>
            <a:ext cx="7870825" cy="4691062"/>
          </a:xfrm>
          <a:prstGeom prst="rect">
            <a:avLst/>
          </a:prstGeom>
          <a:noFill/>
          <a:ln w="38100" cmpd="dbl">
            <a:solidFill>
              <a:schemeClr val="tx2"/>
            </a:solid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738188" y="66675"/>
            <a:ext cx="8077200" cy="609600"/>
          </a:xfrm>
        </p:spPr>
        <p:txBody>
          <a:bodyPr>
            <a:normAutofit/>
          </a:bodyPr>
          <a:lstStyle/>
          <a:p>
            <a:pPr>
              <a:defRPr/>
            </a:pPr>
            <a:r>
              <a:rPr lang="en-US" sz="2800" dirty="0">
                <a:latin typeface="Times New Roman" pitchFamily="18" charset="0"/>
                <a:cs typeface="Times New Roman" pitchFamily="18" charset="0"/>
              </a:rPr>
              <a:t>UML Class Diagram Notation</a:t>
            </a:r>
          </a:p>
        </p:txBody>
      </p:sp>
      <p:pic>
        <p:nvPicPr>
          <p:cNvPr id="79875" name="Picture 3"/>
          <p:cNvPicPr>
            <a:picLocks noChangeAspect="1" noChangeArrowheads="1"/>
          </p:cNvPicPr>
          <p:nvPr/>
        </p:nvPicPr>
        <p:blipFill>
          <a:blip r:embed="rId2"/>
          <a:srcRect l="18739" t="50691" r="18919" b="2402"/>
          <a:stretch>
            <a:fillRect/>
          </a:stretch>
        </p:blipFill>
        <p:spPr bwMode="auto">
          <a:xfrm>
            <a:off x="855663" y="1085850"/>
            <a:ext cx="7551737" cy="4262438"/>
          </a:xfrm>
          <a:prstGeom prst="rect">
            <a:avLst/>
          </a:prstGeom>
          <a:noFill/>
          <a:ln w="38100" cmpd="dbl">
            <a:solidFill>
              <a:schemeClr val="tx2"/>
            </a:solidFill>
            <a:miter lim="800000"/>
            <a:headEnd/>
            <a:tailEnd/>
          </a:ln>
        </p:spPr>
      </p:pic>
      <p:sp>
        <p:nvSpPr>
          <p:cNvPr id="79876" name="Text Box 4"/>
          <p:cNvSpPr txBox="1">
            <a:spLocks noChangeArrowheads="1"/>
          </p:cNvSpPr>
          <p:nvPr/>
        </p:nvSpPr>
        <p:spPr bwMode="auto">
          <a:xfrm>
            <a:off x="1371600" y="5562600"/>
            <a:ext cx="6505575" cy="646331"/>
          </a:xfrm>
          <a:prstGeom prst="rect">
            <a:avLst/>
          </a:prstGeom>
          <a:noFill/>
          <a:ln w="9525">
            <a:noFill/>
            <a:miter lim="800000"/>
            <a:headEnd/>
            <a:tailEnd/>
          </a:ln>
        </p:spPr>
        <p:txBody>
          <a:bodyPr wrap="square">
            <a:spAutoFit/>
          </a:bodyPr>
          <a:lstStyle/>
          <a:p>
            <a:r>
              <a:rPr lang="en-US" sz="1800" dirty="0">
                <a:solidFill>
                  <a:schemeClr val="tx2"/>
                </a:solidFill>
                <a:latin typeface="Times New Roman" pitchFamily="18" charset="0"/>
                <a:cs typeface="Times New Roman" pitchFamily="18" charset="0"/>
              </a:rPr>
              <a:t>*</a:t>
            </a:r>
            <a:r>
              <a:rPr lang="en-US" sz="1800" dirty="0">
                <a:latin typeface="Times New Roman" pitchFamily="18" charset="0"/>
                <a:cs typeface="Times New Roman" pitchFamily="18" charset="0"/>
              </a:rPr>
              <a:t>Generalization can use merged or separate arrows independent  of disjoint/overlapping</a:t>
            </a:r>
            <a:endParaRPr lang="en-US" sz="1800" dirty="0">
              <a:solidFill>
                <a:schemeClr val="tx2"/>
              </a:solidFill>
              <a:latin typeface="Times New Roman" pitchFamily="18" charset="0"/>
              <a:cs typeface="Times New Roman" pitchFamily="18" charset="0"/>
            </a:endParaRPr>
          </a:p>
        </p:txBody>
      </p:sp>
      <p:sp>
        <p:nvSpPr>
          <p:cNvPr id="79877" name="Line 5"/>
          <p:cNvSpPr>
            <a:spLocks noChangeShapeType="1"/>
          </p:cNvSpPr>
          <p:nvPr/>
        </p:nvSpPr>
        <p:spPr bwMode="auto">
          <a:xfrm>
            <a:off x="6111875" y="2905125"/>
            <a:ext cx="1133475" cy="0"/>
          </a:xfrm>
          <a:prstGeom prst="line">
            <a:avLst/>
          </a:prstGeom>
          <a:noFill/>
          <a:ln w="9525">
            <a:solidFill>
              <a:schemeClr val="tx1"/>
            </a:solidFill>
            <a:prstDash val="dash"/>
            <a:round/>
            <a:headEnd/>
            <a:tailEnd/>
          </a:ln>
        </p:spPr>
        <p:txBody>
          <a:bodyPr wrap="none"/>
          <a:lstStyle/>
          <a:p>
            <a:endParaRPr lang="en-US"/>
          </a:p>
        </p:txBody>
      </p:sp>
      <p:sp>
        <p:nvSpPr>
          <p:cNvPr id="79878" name="Text Box 6"/>
          <p:cNvSpPr txBox="1">
            <a:spLocks noChangeArrowheads="1"/>
          </p:cNvSpPr>
          <p:nvPr/>
        </p:nvSpPr>
        <p:spPr bwMode="auto">
          <a:xfrm>
            <a:off x="7023100" y="2673350"/>
            <a:ext cx="1235075" cy="346075"/>
          </a:xfrm>
          <a:prstGeom prst="rect">
            <a:avLst/>
          </a:prstGeom>
          <a:noFill/>
          <a:ln w="9525">
            <a:noFill/>
            <a:miter lim="800000"/>
            <a:headEnd/>
            <a:tailEnd/>
          </a:ln>
        </p:spPr>
        <p:txBody>
          <a:bodyPr wrap="none">
            <a:spAutoFit/>
          </a:bodyPr>
          <a:lstStyle/>
          <a:p>
            <a:pPr algn="ctr"/>
            <a:r>
              <a:rPr lang="en-US">
                <a:latin typeface="Perpetua" pitchFamily="18" charset="0"/>
              </a:rPr>
              <a:t>overlapping</a:t>
            </a:r>
          </a:p>
        </p:txBody>
      </p:sp>
      <p:sp>
        <p:nvSpPr>
          <p:cNvPr id="79879" name="Text Box 7"/>
          <p:cNvSpPr txBox="1">
            <a:spLocks noChangeArrowheads="1"/>
          </p:cNvSpPr>
          <p:nvPr/>
        </p:nvSpPr>
        <p:spPr bwMode="auto">
          <a:xfrm>
            <a:off x="7212013" y="4354513"/>
            <a:ext cx="815975" cy="346075"/>
          </a:xfrm>
          <a:prstGeom prst="rect">
            <a:avLst/>
          </a:prstGeom>
          <a:noFill/>
          <a:ln w="9525">
            <a:noFill/>
            <a:miter lim="800000"/>
            <a:headEnd/>
            <a:tailEnd/>
          </a:ln>
        </p:spPr>
        <p:txBody>
          <a:bodyPr wrap="none">
            <a:spAutoFit/>
          </a:bodyPr>
          <a:lstStyle/>
          <a:p>
            <a:pPr algn="ctr"/>
            <a:r>
              <a:rPr lang="en-US">
                <a:latin typeface="Perpetua" pitchFamily="18" charset="0"/>
              </a:rPr>
              <a:t>disjoint</a:t>
            </a:r>
          </a:p>
        </p:txBody>
      </p:sp>
      <p:grpSp>
        <p:nvGrpSpPr>
          <p:cNvPr id="2" name="Group 12"/>
          <p:cNvGrpSpPr>
            <a:grpSpLocks/>
          </p:cNvGrpSpPr>
          <p:nvPr/>
        </p:nvGrpSpPr>
        <p:grpSpPr bwMode="auto">
          <a:xfrm>
            <a:off x="6064250" y="2636838"/>
            <a:ext cx="314325" cy="179387"/>
            <a:chOff x="5395" y="1332"/>
            <a:chExt cx="198" cy="113"/>
          </a:xfrm>
        </p:grpSpPr>
        <p:sp>
          <p:nvSpPr>
            <p:cNvPr id="79887" name="Rectangle 8"/>
            <p:cNvSpPr>
              <a:spLocks noChangeArrowheads="1"/>
            </p:cNvSpPr>
            <p:nvPr/>
          </p:nvSpPr>
          <p:spPr bwMode="auto">
            <a:xfrm>
              <a:off x="5395" y="1334"/>
              <a:ext cx="198" cy="111"/>
            </a:xfrm>
            <a:prstGeom prst="rect">
              <a:avLst/>
            </a:prstGeom>
            <a:solidFill>
              <a:srgbClr val="FFFFFF"/>
            </a:solidFill>
            <a:ln w="9525">
              <a:noFill/>
              <a:miter lim="800000"/>
              <a:headEnd/>
              <a:tailEnd/>
            </a:ln>
          </p:spPr>
          <p:txBody>
            <a:bodyPr wrap="none" anchor="ctr"/>
            <a:lstStyle/>
            <a:p>
              <a:endParaRPr lang="en-US"/>
            </a:p>
          </p:txBody>
        </p:sp>
        <p:sp>
          <p:nvSpPr>
            <p:cNvPr id="79888" name="AutoShape 9"/>
            <p:cNvSpPr>
              <a:spLocks noChangeArrowheads="1"/>
            </p:cNvSpPr>
            <p:nvPr/>
          </p:nvSpPr>
          <p:spPr bwMode="auto">
            <a:xfrm>
              <a:off x="5445" y="1332"/>
              <a:ext cx="96" cy="101"/>
            </a:xfrm>
            <a:prstGeom prst="triangle">
              <a:avLst>
                <a:gd name="adj" fmla="val 50000"/>
              </a:avLst>
            </a:prstGeom>
            <a:solidFill>
              <a:srgbClr val="FFFFFF"/>
            </a:solidFill>
            <a:ln w="9525">
              <a:solidFill>
                <a:schemeClr val="tx1"/>
              </a:solidFill>
              <a:miter lim="800000"/>
              <a:headEnd/>
              <a:tailEnd/>
            </a:ln>
          </p:spPr>
          <p:txBody>
            <a:bodyPr wrap="none" anchor="ctr"/>
            <a:lstStyle/>
            <a:p>
              <a:endParaRPr lang="en-US"/>
            </a:p>
          </p:txBody>
        </p:sp>
      </p:grpSp>
      <p:grpSp>
        <p:nvGrpSpPr>
          <p:cNvPr id="3" name="Group 13"/>
          <p:cNvGrpSpPr>
            <a:grpSpLocks/>
          </p:cNvGrpSpPr>
          <p:nvPr/>
        </p:nvGrpSpPr>
        <p:grpSpPr bwMode="auto">
          <a:xfrm>
            <a:off x="6842125" y="2627313"/>
            <a:ext cx="314325" cy="179387"/>
            <a:chOff x="5395" y="1332"/>
            <a:chExt cx="198" cy="113"/>
          </a:xfrm>
        </p:grpSpPr>
        <p:sp>
          <p:nvSpPr>
            <p:cNvPr id="79885" name="Rectangle 14"/>
            <p:cNvSpPr>
              <a:spLocks noChangeArrowheads="1"/>
            </p:cNvSpPr>
            <p:nvPr/>
          </p:nvSpPr>
          <p:spPr bwMode="auto">
            <a:xfrm>
              <a:off x="5395" y="1334"/>
              <a:ext cx="198" cy="111"/>
            </a:xfrm>
            <a:prstGeom prst="rect">
              <a:avLst/>
            </a:prstGeom>
            <a:solidFill>
              <a:srgbClr val="FFFFFF"/>
            </a:solidFill>
            <a:ln w="9525">
              <a:noFill/>
              <a:miter lim="800000"/>
              <a:headEnd/>
              <a:tailEnd/>
            </a:ln>
          </p:spPr>
          <p:txBody>
            <a:bodyPr wrap="none" anchor="ctr"/>
            <a:lstStyle/>
            <a:p>
              <a:endParaRPr lang="en-US"/>
            </a:p>
          </p:txBody>
        </p:sp>
        <p:sp>
          <p:nvSpPr>
            <p:cNvPr id="79886" name="AutoShape 15"/>
            <p:cNvSpPr>
              <a:spLocks noChangeArrowheads="1"/>
            </p:cNvSpPr>
            <p:nvPr/>
          </p:nvSpPr>
          <p:spPr bwMode="auto">
            <a:xfrm>
              <a:off x="5445" y="1332"/>
              <a:ext cx="96" cy="101"/>
            </a:xfrm>
            <a:prstGeom prst="triangle">
              <a:avLst>
                <a:gd name="adj" fmla="val 50000"/>
              </a:avLst>
            </a:prstGeom>
            <a:solidFill>
              <a:srgbClr val="FFFFFF"/>
            </a:solidFill>
            <a:ln w="9525">
              <a:solidFill>
                <a:schemeClr val="tx1"/>
              </a:solidFill>
              <a:miter lim="800000"/>
              <a:headEnd/>
              <a:tailEnd/>
            </a:ln>
          </p:spPr>
          <p:txBody>
            <a:bodyPr wrap="none" anchor="ctr"/>
            <a:lstStyle/>
            <a:p>
              <a:endParaRPr lang="en-US"/>
            </a:p>
          </p:txBody>
        </p:sp>
      </p:grpSp>
      <p:grpSp>
        <p:nvGrpSpPr>
          <p:cNvPr id="4" name="Group 16"/>
          <p:cNvGrpSpPr>
            <a:grpSpLocks/>
          </p:cNvGrpSpPr>
          <p:nvPr/>
        </p:nvGrpSpPr>
        <p:grpSpPr bwMode="auto">
          <a:xfrm>
            <a:off x="6530975" y="4308475"/>
            <a:ext cx="314325" cy="179388"/>
            <a:chOff x="5395" y="1332"/>
            <a:chExt cx="198" cy="113"/>
          </a:xfrm>
        </p:grpSpPr>
        <p:sp>
          <p:nvSpPr>
            <p:cNvPr id="79883" name="Rectangle 17"/>
            <p:cNvSpPr>
              <a:spLocks noChangeArrowheads="1"/>
            </p:cNvSpPr>
            <p:nvPr/>
          </p:nvSpPr>
          <p:spPr bwMode="auto">
            <a:xfrm>
              <a:off x="5395" y="1334"/>
              <a:ext cx="198" cy="111"/>
            </a:xfrm>
            <a:prstGeom prst="rect">
              <a:avLst/>
            </a:prstGeom>
            <a:solidFill>
              <a:srgbClr val="FFFFFF"/>
            </a:solidFill>
            <a:ln w="9525">
              <a:noFill/>
              <a:miter lim="800000"/>
              <a:headEnd/>
              <a:tailEnd/>
            </a:ln>
          </p:spPr>
          <p:txBody>
            <a:bodyPr wrap="none" anchor="ctr"/>
            <a:lstStyle/>
            <a:p>
              <a:endParaRPr lang="en-US"/>
            </a:p>
          </p:txBody>
        </p:sp>
        <p:sp>
          <p:nvSpPr>
            <p:cNvPr id="79884" name="AutoShape 18"/>
            <p:cNvSpPr>
              <a:spLocks noChangeArrowheads="1"/>
            </p:cNvSpPr>
            <p:nvPr/>
          </p:nvSpPr>
          <p:spPr bwMode="auto">
            <a:xfrm>
              <a:off x="5445" y="1332"/>
              <a:ext cx="96" cy="101"/>
            </a:xfrm>
            <a:prstGeom prst="triangle">
              <a:avLst>
                <a:gd name="adj" fmla="val 50000"/>
              </a:avLst>
            </a:prstGeom>
            <a:solidFill>
              <a:srgbClr val="FFFFFF"/>
            </a:solidFill>
            <a:ln w="9525">
              <a:solidFill>
                <a:schemeClr val="tx1"/>
              </a:solidFill>
              <a:miter lim="800000"/>
              <a:headEnd/>
              <a:tailEnd/>
            </a:ln>
          </p:spPr>
          <p:txBody>
            <a:bodyPr wrap="none" anchor="ctr"/>
            <a:lstStyle/>
            <a:p>
              <a:endParaRPr lang="en-US"/>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68350" y="1662113"/>
            <a:ext cx="8077200" cy="541337"/>
          </a:xfrm>
        </p:spPr>
        <p:txBody>
          <a:bodyPr>
            <a:normAutofit fontScale="90000"/>
          </a:bodyPr>
          <a:lstStyle/>
          <a:p>
            <a:r>
              <a:rPr lang="en-US">
                <a:effectLst/>
                <a:latin typeface="Times New Roman" pitchFamily="18" charset="0"/>
                <a:cs typeface="Times New Roman" pitchFamily="18" charset="0"/>
              </a:rPr>
              <a:t>Any Question?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60388" y="1614488"/>
            <a:ext cx="8077200" cy="609600"/>
          </a:xfrm>
        </p:spPr>
        <p:txBody>
          <a:bodyPr>
            <a:normAutofit fontScale="90000"/>
          </a:bodyPr>
          <a:lstStyle/>
          <a:p>
            <a:r>
              <a:rPr lang="en-US">
                <a:effectLst/>
                <a:latin typeface="Times New Roman" pitchFamily="18" charset="0"/>
                <a:cs typeface="Times New Roman" pitchFamily="18" charset="0"/>
              </a:rPr>
              <a:t>Thank You </a:t>
            </a:r>
          </a:p>
        </p:txBody>
      </p:sp>
      <p:sp>
        <p:nvSpPr>
          <p:cNvPr id="41987" name="AutoShape 44"/>
          <p:cNvSpPr>
            <a:spLocks noChangeArrowheads="1"/>
          </p:cNvSpPr>
          <p:nvPr/>
        </p:nvSpPr>
        <p:spPr bwMode="auto">
          <a:xfrm>
            <a:off x="4419600" y="2438400"/>
            <a:ext cx="762000" cy="762000"/>
          </a:xfrm>
          <a:prstGeom prst="smileyFace">
            <a:avLst>
              <a:gd name="adj" fmla="val 4653"/>
            </a:avLst>
          </a:prstGeom>
          <a:solidFill>
            <a:srgbClr val="FFCC66"/>
          </a:solidFill>
          <a:ln w="19050">
            <a:solidFill>
              <a:schemeClr val="tx1"/>
            </a:solidFill>
            <a:round/>
            <a:headEnd/>
            <a:tailEnd/>
          </a:ln>
        </p:spPr>
        <p:txBody>
          <a:bodyPr wrap="none" anchor="ctr">
            <a:sp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TotalTime>
  <Words>3192</Words>
  <Application>Microsoft Office PowerPoint</Application>
  <PresentationFormat>On-screen Show (4:3)</PresentationFormat>
  <Paragraphs>305</Paragraphs>
  <Slides>60</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60</vt:i4>
      </vt:variant>
    </vt:vector>
  </HeadingPairs>
  <TitlesOfParts>
    <vt:vector size="72" baseType="lpstr">
      <vt:lpstr>Arial</vt:lpstr>
      <vt:lpstr>Calibri</vt:lpstr>
      <vt:lpstr>inter-bold</vt:lpstr>
      <vt:lpstr>inter-regular</vt:lpstr>
      <vt:lpstr>Monotype Sorts</vt:lpstr>
      <vt:lpstr>Open Sans</vt:lpstr>
      <vt:lpstr>Perpetua</vt:lpstr>
      <vt:lpstr>Times New Roman</vt:lpstr>
      <vt:lpstr>urw-din</vt:lpstr>
      <vt:lpstr>Webdings</vt:lpstr>
      <vt:lpstr>Wingdings</vt:lpstr>
      <vt:lpstr>Office Theme</vt:lpstr>
      <vt:lpstr>Chapter 2:  Entity-Relationship Model</vt:lpstr>
      <vt:lpstr>Chapter 6:  Entity-Relationship Model</vt:lpstr>
      <vt:lpstr>Modeling</vt:lpstr>
      <vt:lpstr>Entity Sets customer and loan</vt:lpstr>
      <vt:lpstr>Attributes</vt:lpstr>
      <vt:lpstr>Composite Attributes</vt:lpstr>
      <vt:lpstr>Relationship Sets</vt:lpstr>
      <vt:lpstr>Relationship Set borrower</vt:lpstr>
      <vt:lpstr>Relationship Sets (Cont.)</vt:lpstr>
      <vt:lpstr>Degree of Relationship</vt:lpstr>
      <vt:lpstr>Degree of Relationship cot..</vt:lpstr>
      <vt:lpstr>Mapping Cardinality Constraints</vt:lpstr>
      <vt:lpstr>Type of Relationship</vt:lpstr>
      <vt:lpstr>Type of Relationship cont..</vt:lpstr>
      <vt:lpstr>Mapping Cardinalities</vt:lpstr>
      <vt:lpstr>Mapping Cardinalities </vt:lpstr>
      <vt:lpstr>Keys</vt:lpstr>
      <vt:lpstr>Keys for Relationship Sets</vt:lpstr>
      <vt:lpstr>PowerPoint Presentation</vt:lpstr>
      <vt:lpstr>Degree of a Relationship Set</vt:lpstr>
      <vt:lpstr>Entity Sets vs Attributes</vt:lpstr>
      <vt:lpstr>Entity Sets vs Relationship Sets</vt:lpstr>
      <vt:lpstr>PowerPoint Presentation</vt:lpstr>
      <vt:lpstr>PowerPoint Presentation</vt:lpstr>
      <vt:lpstr>E-R Diagrams </vt:lpstr>
      <vt:lpstr>Types of Attributes</vt:lpstr>
      <vt:lpstr>See the URL</vt:lpstr>
      <vt:lpstr>E-R Diagram With Composite, Multivalued, and Derived Attributes</vt:lpstr>
      <vt:lpstr>Relationship Sets with Attributes</vt:lpstr>
      <vt:lpstr>Roles</vt:lpstr>
      <vt:lpstr>Cardinality Constraints</vt:lpstr>
      <vt:lpstr>One-To-Many Relationship</vt:lpstr>
      <vt:lpstr>Many-To-One Relationships</vt:lpstr>
      <vt:lpstr>Many-To-Many Relationship</vt:lpstr>
      <vt:lpstr>Participation of an Entity Set in a Relationship Set</vt:lpstr>
      <vt:lpstr>Alternative Notation for Cardinality Limits</vt:lpstr>
      <vt:lpstr>E-R Diagram with a Ternary Relationship</vt:lpstr>
      <vt:lpstr>Weak Entity Sets</vt:lpstr>
      <vt:lpstr>Weak Entity Sets (cont.)</vt:lpstr>
      <vt:lpstr>Weak Entity Sets (Cont.)</vt:lpstr>
      <vt:lpstr>More Weak Entity Set Examples</vt:lpstr>
      <vt:lpstr>Extended E-R Features: Specialization</vt:lpstr>
      <vt:lpstr>Specialization Example</vt:lpstr>
      <vt:lpstr>Extended ER Features: Generalization</vt:lpstr>
      <vt:lpstr>Specialization and Generalization (Cont.)</vt:lpstr>
      <vt:lpstr>Design Constraints on a Specialization/Generalization</vt:lpstr>
      <vt:lpstr>Design Constraints on a Specialization/Generalization (Cont.)</vt:lpstr>
      <vt:lpstr>Limitation of ER model</vt:lpstr>
      <vt:lpstr>Aggregation</vt:lpstr>
      <vt:lpstr>Aggregation (Cont.)</vt:lpstr>
      <vt:lpstr>E-R Diagram With Aggregation</vt:lpstr>
      <vt:lpstr>E-R Design Decisions</vt:lpstr>
      <vt:lpstr>E-R Diagram for a Banking Enterprise</vt:lpstr>
      <vt:lpstr>E-R Diagram for Exercise</vt:lpstr>
      <vt:lpstr>Summary of Symbols Used in E-R Notation</vt:lpstr>
      <vt:lpstr>UML </vt:lpstr>
      <vt:lpstr>UML Class Diagram Notation</vt:lpstr>
      <vt:lpstr>UML Class Diagram Notation</vt:lpstr>
      <vt:lpstr>Any Question?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Entity-Relationship Model</dc:title>
  <dc:creator>CSE1</dc:creator>
  <cp:lastModifiedBy>Daisy</cp:lastModifiedBy>
  <cp:revision>45</cp:revision>
  <dcterms:created xsi:type="dcterms:W3CDTF">2006-08-16T00:00:00Z</dcterms:created>
  <dcterms:modified xsi:type="dcterms:W3CDTF">2023-01-24T16:01:06Z</dcterms:modified>
</cp:coreProperties>
</file>